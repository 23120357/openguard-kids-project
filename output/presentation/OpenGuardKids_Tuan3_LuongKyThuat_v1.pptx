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3398e79005f4035" /><Relationship Type="http://schemas.openxmlformats.org/officeDocument/2006/relationships/extended-properties" Target="/docProps/app.xml" Id="R9a76d8330df746a9" /><Relationship Type="http://schemas.openxmlformats.org/officeDocument/2006/relationships/officeDocument" Target="/ppt/presentation.xml" Id="R36ae7a9bfd804f9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9cf9844ac1b4c1b"/>
  </p:sldMasterIdLst>
  <p:notesMasterIdLst>
    <p:notesMasterId xmlns:r="http://schemas.openxmlformats.org/officeDocument/2006/relationships" r:id="R5bb056fbac934b17"/>
  </p:notesMasterIdLst>
  <p:sldIdLst>
    <p:sldId xmlns:r="http://schemas.openxmlformats.org/officeDocument/2006/relationships" id="256" r:id="R974ff0040eb14ab6"/>
    <p:sldId xmlns:r="http://schemas.openxmlformats.org/officeDocument/2006/relationships" id="257" r:id="R2fe5dce0f40c4ee6"/>
    <p:sldId xmlns:r="http://schemas.openxmlformats.org/officeDocument/2006/relationships" id="258" r:id="Ra18ae1ee84bf4ab7"/>
    <p:sldId xmlns:r="http://schemas.openxmlformats.org/officeDocument/2006/relationships" id="259" r:id="Rfbb781495e9143be"/>
    <p:sldId xmlns:r="http://schemas.openxmlformats.org/officeDocument/2006/relationships" id="260" r:id="Rf1149a29baa14175"/>
    <p:sldId xmlns:r="http://schemas.openxmlformats.org/officeDocument/2006/relationships" id="261" r:id="Rd463a9eef2924ee3"/>
    <p:sldId xmlns:r="http://schemas.openxmlformats.org/officeDocument/2006/relationships" id="262" r:id="R2bb7e6bc73844a1b"/>
    <p:sldId xmlns:r="http://schemas.openxmlformats.org/officeDocument/2006/relationships" id="263" r:id="R0b55eda93ca24894"/>
    <p:sldId xmlns:r="http://schemas.openxmlformats.org/officeDocument/2006/relationships" id="264" r:id="Rc7e7b512e9c84666"/>
    <p:sldId xmlns:r="http://schemas.openxmlformats.org/officeDocument/2006/relationships" id="265" r:id="Rd1750d11ddff44f0"/>
    <p:sldId xmlns:r="http://schemas.openxmlformats.org/officeDocument/2006/relationships" id="266" r:id="Rbf2f8532d61d43ff"/>
    <p:sldId xmlns:r="http://schemas.openxmlformats.org/officeDocument/2006/relationships" id="267" r:id="R4cd54b7137c24f3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6d93bb9531d4eba" /><Relationship Type="http://schemas.openxmlformats.org/officeDocument/2006/relationships/slideMaster" Target="/ppt/slideMasters/slideMaster1.xml" Id="R19cf9844ac1b4c1b" /><Relationship Type="http://schemas.openxmlformats.org/officeDocument/2006/relationships/notesMaster" Target="/ppt/notesMasters/notesMaster1.xml" Id="R5bb056fbac934b17" /><Relationship Type="http://schemas.openxmlformats.org/officeDocument/2006/relationships/presProps" Target="/ppt/presProps.xml" Id="Rd451cad606e646f4" /><Relationship Type="http://schemas.openxmlformats.org/officeDocument/2006/relationships/tableStyles" Target="/ppt/tableStyles.xml" Id="Ra0bacdf9785941aa" /><Relationship Type="http://schemas.openxmlformats.org/officeDocument/2006/relationships/slide" Target="/ppt/slides/slide1.xml" Id="R974ff0040eb14ab6" /><Relationship Type="http://schemas.openxmlformats.org/officeDocument/2006/relationships/slide" Target="/ppt/slides/slide2.xml" Id="R2fe5dce0f40c4ee6" /><Relationship Type="http://schemas.openxmlformats.org/officeDocument/2006/relationships/slide" Target="/ppt/slides/slide3.xml" Id="Ra18ae1ee84bf4ab7" /><Relationship Type="http://schemas.openxmlformats.org/officeDocument/2006/relationships/slide" Target="/ppt/slides/slide4.xml" Id="Rfbb781495e9143be" /><Relationship Type="http://schemas.openxmlformats.org/officeDocument/2006/relationships/slide" Target="/ppt/slides/slide5.xml" Id="Rf1149a29baa14175" /><Relationship Type="http://schemas.openxmlformats.org/officeDocument/2006/relationships/slide" Target="/ppt/slides/slide6.xml" Id="Rd463a9eef2924ee3" /><Relationship Type="http://schemas.openxmlformats.org/officeDocument/2006/relationships/slide" Target="/ppt/slides/slide7.xml" Id="R2bb7e6bc73844a1b" /><Relationship Type="http://schemas.openxmlformats.org/officeDocument/2006/relationships/slide" Target="/ppt/slides/slide8.xml" Id="R0b55eda93ca24894" /><Relationship Type="http://schemas.openxmlformats.org/officeDocument/2006/relationships/slide" Target="/ppt/slides/slide9.xml" Id="Rc7e7b512e9c84666" /><Relationship Type="http://schemas.openxmlformats.org/officeDocument/2006/relationships/slide" Target="/ppt/slides/slide10.xml" Id="Rd1750d11ddff44f0" /><Relationship Type="http://schemas.openxmlformats.org/officeDocument/2006/relationships/slide" Target="/ppt/slides/slide11.xml" Id="Rbf2f8532d61d43ff" /><Relationship Type="http://schemas.openxmlformats.org/officeDocument/2006/relationships/slide" Target="/ppt/slides/slide12.xml" Id="R4cd54b7137c24f3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cfaf0954b3544e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87906f2b5dd4316" /><Relationship Type="http://schemas.openxmlformats.org/officeDocument/2006/relationships/notesMaster" Target="/ppt/notesMasters/notesMaster1.xml" Id="R2fb6f47df7c74c9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61b26c5b2664585" /><Relationship Type="http://schemas.openxmlformats.org/officeDocument/2006/relationships/notesMaster" Target="/ppt/notesMasters/notesMaster1.xml" Id="R90a5ec58368a478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1a324c431254127" /><Relationship Type="http://schemas.openxmlformats.org/officeDocument/2006/relationships/notesMaster" Target="/ppt/notesMasters/notesMaster1.xml" Id="R095e3a1dc755499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2844717fdcd4d48" /><Relationship Type="http://schemas.openxmlformats.org/officeDocument/2006/relationships/notesMaster" Target="/ppt/notesMasters/notesMaster1.xml" Id="R889563c9c0264cd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35c37e8216341bf" /><Relationship Type="http://schemas.openxmlformats.org/officeDocument/2006/relationships/notesMaster" Target="/ppt/notesMasters/notesMaster1.xml" Id="Rbcd85ae6747d41c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3095738c92e41ba" /><Relationship Type="http://schemas.openxmlformats.org/officeDocument/2006/relationships/notesMaster" Target="/ppt/notesMasters/notesMaster1.xml" Id="R9925a93227a34a8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d98c0a2c737439b" /><Relationship Type="http://schemas.openxmlformats.org/officeDocument/2006/relationships/notesMaster" Target="/ppt/notesMasters/notesMaster1.xml" Id="Rbbca715fe698482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f80af9fbb4d4164" /><Relationship Type="http://schemas.openxmlformats.org/officeDocument/2006/relationships/notesMaster" Target="/ppt/notesMasters/notesMaster1.xml" Id="R1cf563220814499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d305fedbbef4922" /><Relationship Type="http://schemas.openxmlformats.org/officeDocument/2006/relationships/notesMaster" Target="/ppt/notesMasters/notesMaster1.xml" Id="Rb91dbb2103c645d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fc9e2552e754cbd" /><Relationship Type="http://schemas.openxmlformats.org/officeDocument/2006/relationships/notesMaster" Target="/ppt/notesMasters/notesMaster1.xml" Id="R107896aeb842473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33e5e7d64244e2e" /><Relationship Type="http://schemas.openxmlformats.org/officeDocument/2006/relationships/notesMaster" Target="/ppt/notesMasters/notesMaster1.xml" Id="Rf86712eb616d453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ca8a4664f8e4aff" /><Relationship Type="http://schemas.openxmlformats.org/officeDocument/2006/relationships/notesMaster" Target="/ppt/notesMasters/notesMaster1.xml" Id="R1961eef538184b9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Gợi ý trình bày:</a:t>
            </a:r>
          </a:p>
          <a:p xmlns:a="http://schemas.openxmlformats.org/drawingml/2006/main">
            <a:r>
              <a:t>- Mở đầu bằng hai luồng chính: chặn ứng dụng và chặn website qua DNS proxy.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Nguồn:</a:t>
            </a:r>
          </a:p>
          <a:p xmlns:a="http://schemas.openxmlformats.org/drawingml/2006/main">
            <a:r>
              <a:t>- Mã nguồn và tài liệu OpenGuard Kids tại mốc 12/10/2026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Gợi ý trình bày:</a:t>
            </a:r>
          </a:p>
          <a:p xmlns:a="http://schemas.openxmlformats.org/drawingml/2006/main">
            <a:r>
              <a:t>- Nhấn mạnh ranh giới: server quản lý chính sách, Service thực thi, Tray đại diện phiên người dùng.</a:t>
            </a:r>
          </a:p>
          <a:p xmlns:a="http://schemas.openxmlformats.org/drawingml/2006/main">
            <a:r>
              <a:t>- Policy và event dùng hai chiều dữ liệu khác nhau.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Nguồn:</a:t>
            </a:r>
          </a:p>
          <a:p xmlns:a="http://schemas.openxmlformats.org/drawingml/2006/main">
            <a:r>
              <a:t>- docs/ARCHITECTURE.md</a:t>
            </a:r>
          </a:p>
          <a:p xmlns:a="http://schemas.openxmlformats.org/drawingml/2006/main">
            <a:r>
              <a:t>- docs/WEEK3_EVENTS.md</a:t>
            </a:r>
          </a:p>
          <a:p xmlns:a="http://schemas.openxmlformats.org/drawingml/2006/main">
            <a:r>
              <a:t>- agent/remote_sync.py</a:t>
            </a:r>
          </a:p>
          <a:p xmlns:a="http://schemas.openxmlformats.org/drawingml/2006/main">
            <a:r>
              <a:t>- agent/core.py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Gợi ý trình bày:</a:t>
            </a:r>
          </a:p>
          <a:p xmlns:a="http://schemas.openxmlformats.org/drawingml/2006/main">
            <a:r>
              <a:t>- Giải thích optimistic concurrency bằng expected_version.</a:t>
            </a:r>
          </a:p>
          <a:p xmlns:a="http://schemas.openxmlformats.org/drawingml/2006/main">
            <a:r>
              <a:t>- HMAC không thay thế TLS, nhưng giúp agent phát hiện policy bị sửa hoặc gửi nhầm thiết bị.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Nguồn:</a:t>
            </a:r>
          </a:p>
          <a:p xmlns:a="http://schemas.openxmlformats.org/drawingml/2006/main">
            <a:r>
              <a:t>- agent/remote_sync.py::_configure_filtering</a:t>
            </a:r>
          </a:p>
          <a:p xmlns:a="http://schemas.openxmlformats.org/drawingml/2006/main">
            <a:r>
              <a:t>- server/app/event_routes.py::device_filtering</a:t>
            </a:r>
          </a:p>
          <a:p xmlns:a="http://schemas.openxmlformats.org/drawingml/2006/main">
            <a:r>
              <a:t>- common/policy_security.py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Gợi ý trình bày:</a:t>
            </a:r>
          </a:p>
          <a:p xmlns:a="http://schemas.openxmlformats.org/drawingml/2006/main">
            <a:r>
              <a:t>- Bước 4: Service tự đọc file và tính SHA-256, đường dẫn không gửi lên server.</a:t>
            </a:r>
          </a:p>
          <a:p xmlns:a="http://schemas.openxmlformats.org/drawingml/2006/main">
            <a:r>
              <a:t>- Trước khi kill, Service đọc lại create_time và exe path để tránh lỗi PID bị tái sử dụng.</a:t>
            </a:r>
          </a:p>
          <a:p xmlns:a="http://schemas.openxmlformats.org/drawingml/2006/main">
            <a:r>
              <a:t>- Sau khi chặn, cùng một reason đi tới popup Tray và lịch sử dashboard.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Nguồn:</a:t>
            </a:r>
          </a:p>
          <a:p xmlns:a="http://schemas.openxmlformats.org/drawingml/2006/main">
            <a:r>
              <a:t>- agent/filtering.py::AppController.scan</a:t>
            </a:r>
          </a:p>
          <a:p xmlns:a="http://schemas.openxmlformats.org/drawingml/2006/main">
            <a:r>
              <a:t>- agent/filtering.py::app_decision</a:t>
            </a:r>
          </a:p>
          <a:p xmlns:a="http://schemas.openxmlformats.org/drawingml/2006/main">
            <a:r>
              <a:t>- docs/WEEK3_EVENTS.md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Gợi ý trình bày:</a:t>
            </a:r>
          </a:p>
          <a:p xmlns:a="http://schemas.openxmlformats.org/drawingml/2006/main">
            <a:r>
              <a:t>- Blocklist luôn được kiểm tra trước allowlist.</a:t>
            </a:r>
          </a:p>
          <a:p xmlns:a="http://schemas.openxmlformats.org/drawingml/2006/main">
            <a:r>
              <a:t>- Tên protected chỉ được miễn nếu executable thật nằm trong thư mục Windows tin cậy.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Nguồn:</a:t>
            </a:r>
          </a:p>
          <a:p xmlns:a="http://schemas.openxmlformats.org/drawingml/2006/main">
            <a:r>
              <a:t>- agent/filtering.py::app_decision</a:t>
            </a:r>
          </a:p>
          <a:p xmlns:a="http://schemas.openxmlformats.org/drawingml/2006/main">
            <a:r>
              <a:t>- agent/filtering.py::trusted_windows_process</a:t>
            </a:r>
          </a:p>
          <a:p xmlns:a="http://schemas.openxmlformats.org/drawingml/2006/main">
            <a:r>
              <a:t>- tests/test_f2_filtering.py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Gợi ý trình bày:</a:t>
            </a:r>
          </a:p>
          <a:p xmlns:a="http://schemas.openxmlformats.org/drawingml/2006/main">
            <a:r>
              <a:t>- Đây là cấu hình cấp máy, nên ảnh hưởng mọi user trong lúc bật.</a:t>
            </a:r>
          </a:p>
          <a:p xmlns:a="http://schemas.openxmlformats.org/drawingml/2006/main">
            <a:r>
              <a:t>- Backup không bị ghi đè sau restart, giúp có điểm khôi phục ổn định.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Nguồn:</a:t>
            </a:r>
          </a:p>
          <a:p xmlns:a="http://schemas.openxmlformats.org/drawingml/2006/main">
            <a:r>
              <a:t>- docs/WEB_PROTECTION.md</a:t>
            </a:r>
          </a:p>
          <a:p xmlns:a="http://schemas.openxmlformats.org/drawingml/2006/main">
            <a:r>
              <a:t>- agent/web_protection.py</a:t>
            </a:r>
          </a:p>
          <a:p xmlns:a="http://schemas.openxmlformats.org/drawingml/2006/main">
            <a:r>
              <a:t>- agent/windows_service.py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Gợi ý trình bày:</a:t>
            </a:r>
          </a:p>
          <a:p xmlns:a="http://schemas.openxmlformats.org/drawingml/2006/main">
            <a:r>
              <a:t>- A/AAAA/retry gần nhau chỉ tạo một domain_query và một blocked_domain trong cửa sổ 5 giây.</a:t>
            </a:r>
          </a:p>
          <a:p xmlns:a="http://schemas.openxmlformats.org/drawingml/2006/main">
            <a:r>
              <a:t>- NXDOMAIN làm browser dừng trước bước kết nối HTTPS, nên hệ thống không cần đọc nội dung trang.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Nguồn:</a:t>
            </a:r>
          </a:p>
          <a:p xmlns:a="http://schemas.openxmlformats.org/drawingml/2006/main">
            <a:r>
              <a:t>- agent/filtering.py::DNSProxy.resolve</a:t>
            </a:r>
          </a:p>
          <a:p xmlns:a="http://schemas.openxmlformats.org/drawingml/2006/main">
            <a:r>
              <a:t>- agent/filtering.py::domain_decision</a:t>
            </a:r>
          </a:p>
          <a:p xmlns:a="http://schemas.openxmlformats.org/drawingml/2006/main">
            <a:r>
              <a:t>- docs/F2_TESTING.md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Gợi ý trình bày:</a:t>
            </a:r>
          </a:p>
          <a:p xmlns:a="http://schemas.openxmlformats.org/drawingml/2006/main">
            <a:r>
              <a:t>- Đi từ dòng 1 đến dòng 8 và dừng ở kết quả đầu tiên phù hợp.</a:t>
            </a:r>
          </a:p>
          <a:p xmlns:a="http://schemas.openxmlformats.org/drawingml/2006/main">
            <a:r>
              <a:t>- Explicit allow bỏ qua category nhưng SafeSearch vẫn áp dụng sau đó.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Nguồn:</a:t>
            </a:r>
          </a:p>
          <a:p xmlns:a="http://schemas.openxmlformats.org/drawingml/2006/main">
            <a:r>
              <a:t>- agent/filtering.py::domain_decision</a:t>
            </a:r>
          </a:p>
          <a:p xmlns:a="http://schemas.openxmlformats.org/drawingml/2006/main">
            <a:r>
              <a:t>- agent/filtering.py::DNSProxy.resolve</a:t>
            </a:r>
          </a:p>
          <a:p xmlns:a="http://schemas.openxmlformats.org/drawingml/2006/main">
            <a:r>
              <a:t>- agent/filtering.py::safe_search_reply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Gợi ý trình bày:</a:t>
            </a:r>
          </a:p>
          <a:p xmlns:a="http://schemas.openxmlformats.org/drawingml/2006/main">
            <a:r>
              <a:t>- Mất response sau commit không tạo bản ghi thứ hai vì agent retry cùng UUID.</a:t>
            </a:r>
          </a:p>
          <a:p xmlns:a="http://schemas.openxmlformats.org/drawingml/2006/main">
            <a:r>
              <a:t>- Generation đóng vai trò hàng rào giữa dữ liệu cũ và dữ liệu sau yêu cầu xóa.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Nguồn:</a:t>
            </a:r>
          </a:p>
          <a:p xmlns:a="http://schemas.openxmlformats.org/drawingml/2006/main">
            <a:r>
              <a:t>- agent/remote_sync.py::sync_activity</a:t>
            </a:r>
          </a:p>
          <a:p xmlns:a="http://schemas.openxmlformats.org/drawingml/2006/main">
            <a:r>
              <a:t>- server/app/event_routes.py::ingest_events</a:t>
            </a:r>
          </a:p>
          <a:p xmlns:a="http://schemas.openxmlformats.org/drawingml/2006/main">
            <a:r>
              <a:t>- docs/WEEK3_EVENTS.md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Gợi ý trình bày:</a:t>
            </a:r>
          </a:p>
          <a:p xmlns:a="http://schemas.openxmlformats.org/drawingml/2006/main">
            <a:r>
              <a:t>- Giải thích app_stop: duration mô tả đoạn thời gian ngay trước event.</a:t>
            </a:r>
          </a:p>
          <a:p xmlns:a="http://schemas.openxmlformats.org/drawingml/2006/main">
            <a:r>
              <a:t>- Biểu đồ ngày luôn 7 ngày, biểu đồ tuần lấy 56 ngày rồi gom thành 8 tuần.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Nguồn:</a:t>
            </a:r>
          </a:p>
          <a:p xmlns:a="http://schemas.openxmlformats.org/drawingml/2006/main">
            <a:r>
              <a:t>- common/activity_reports.py</a:t>
            </a:r>
          </a:p>
          <a:p xmlns:a="http://schemas.openxmlformats.org/drawingml/2006/main">
            <a:r>
              <a:t>- server/app/event_routes.py</a:t>
            </a:r>
          </a:p>
          <a:p xmlns:a="http://schemas.openxmlformats.org/drawingml/2006/main">
            <a:r>
              <a:t>- dashboard/static/app.js</a:t>
            </a:r>
          </a:p>
          <a:p xmlns:a="http://schemas.openxmlformats.org/drawingml/2006/main">
            <a:r>
              <a:t>- agent/tray_ui.py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Gợi ý trình bày:</a:t>
            </a:r>
          </a:p>
          <a:p xmlns:a="http://schemas.openxmlformats.org/drawingml/2006/main">
            <a:r>
              <a:t>- Demo theo thứ tự từ cấu hình đến thực thi rồi mới tới báo cáo.</a:t>
            </a:r>
          </a:p>
          <a:p xmlns:a="http://schemas.openxmlformats.org/drawingml/2006/main">
            <a:r>
              <a:t>- Dừng ở mỗi bước để chỉ actor và dữ liệu tương ứng trên sơ đồ.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Nguồn:</a:t>
            </a:r>
          </a:p>
          <a:p xmlns:a="http://schemas.openxmlformats.org/drawingml/2006/main">
            <a:r>
              <a:t>- docs/F2_TESTING.md</a:t>
            </a:r>
          </a:p>
          <a:p xmlns:a="http://schemas.openxmlformats.org/drawingml/2006/main">
            <a:r>
              <a:t>- docs/F3_REPORTS.md</a:t>
            </a:r>
          </a:p>
          <a:p xmlns:a="http://schemas.openxmlformats.org/drawingml/2006/main">
            <a:r>
              <a:t>- docs/WEEK3_EVENTS.md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Gợi ý trình bày:</a:t>
            </a:r>
          </a:p>
          <a:p xmlns:a="http://schemas.openxmlformats.org/drawingml/2006/main">
            <a:r>
              <a:t>- Không đánh đồng test isolated với nghiệm thu production.</a:t>
            </a:r>
          </a:p>
          <a:p xmlns:a="http://schemas.openxmlformats.org/drawingml/2006/main">
            <a:r>
              <a:t>- Chủ động nêu giới hạn trước khi thầy hỏi về DoH, VPN và quyền admin của trẻ.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Nguồn:</a:t>
            </a:r>
          </a:p>
          <a:p xmlns:a="http://schemas.openxmlformats.org/drawingml/2006/main">
            <a:r>
              <a:t>- docs/WEEK3_EVENTS.md</a:t>
            </a:r>
          </a:p>
          <a:p xmlns:a="http://schemas.openxmlformats.org/drawingml/2006/main">
            <a:r>
              <a:t>- docs/F2_TESTING.md</a:t>
            </a:r>
          </a:p>
          <a:p xmlns:a="http://schemas.openxmlformats.org/drawingml/2006/main">
            <a:r>
              <a:t>- output/f2-dns.json</a:t>
            </a:r>
          </a:p>
          <a:p xmlns:a="http://schemas.openxmlformats.org/drawingml/2006/main">
            <a:r>
              <a:t>- docs/WEB_PROTECTION.md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b1874a0e4c54d27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71d78cbd0b147f4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d747b0944af4378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f189baed1c34f6e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f4777979b4245b5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426272f3947406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C6D1DC5-D734-4636-BEA5-AC44DE18AC0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20CD1D14-7698-4E5F-8E92-253448A7429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3E8FEB32-F425-4EAC-B4A3-603BD4FDD91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9B5C728-6FC9-4350-B851-E6C913302F9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56E1008D-64EF-4C0B-8A7A-03BBBD887EA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F0893C32-63BA-47B2-8851-DC6FA1048ED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B975C99-41D4-4B7A-AA77-9FD2D661404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8BCB3768-3A2E-44A0-BE96-9F98923A2D9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41C992D-B915-423A-99D7-870186F45F7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294D780-B5FF-4B0D-AF8C-1C4519413E1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b426dad48b140a9" /><Relationship Type="http://schemas.openxmlformats.org/officeDocument/2006/relationships/slideLayout" Target="/ppt/slideLayouts/slideLayout1.xml" Id="R549c3a1627844c3e" /><Relationship Type="http://schemas.openxmlformats.org/officeDocument/2006/relationships/slideLayout" Target="/ppt/slideLayouts/slideLayout2.xml" Id="Rfccbc0f828444e77" /><Relationship Type="http://schemas.openxmlformats.org/officeDocument/2006/relationships/slideLayout" Target="/ppt/slideLayouts/slideLayout3.xml" Id="Rd1410c1da83e461b" /><Relationship Type="http://schemas.openxmlformats.org/officeDocument/2006/relationships/slideLayout" Target="/ppt/slideLayouts/slideLayout4.xml" Id="R80d014b30e64417c" /><Relationship Type="http://schemas.openxmlformats.org/officeDocument/2006/relationships/slideLayout" Target="/ppt/slideLayouts/slideLayout5.xml" Id="Rb797644b72d34bbe" /><Relationship Type="http://schemas.openxmlformats.org/officeDocument/2006/relationships/slideLayout" Target="/ppt/slideLayouts/slideLayout6.xml" Id="R340a156ddec546e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49c3a1627844c3e"/>
    <p:sldLayoutId xmlns:r="http://schemas.openxmlformats.org/officeDocument/2006/relationships" id="2147483650" r:id="Rfccbc0f828444e77"/>
    <p:sldLayoutId xmlns:r="http://schemas.openxmlformats.org/officeDocument/2006/relationships" id="2147483651" r:id="Rd1410c1da83e461b"/>
    <p:sldLayoutId xmlns:r="http://schemas.openxmlformats.org/officeDocument/2006/relationships" id="2147483652" r:id="R80d014b30e64417c"/>
    <p:sldLayoutId xmlns:r="http://schemas.openxmlformats.org/officeDocument/2006/relationships" id="2147483653" r:id="Rb797644b72d34bbe"/>
    <p:sldLayoutId xmlns:r="http://schemas.openxmlformats.org/officeDocument/2006/relationships" id="2147483654" r:id="R340a156ddec546e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7de70fbb67e4a52" /><Relationship Type="http://schemas.openxmlformats.org/officeDocument/2006/relationships/notesSlide" Target="/ppt/notesSlides/notesSlide1.xml" Id="R3769c0550cb0405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a3cee9b573f4323" /><Relationship Type="http://schemas.openxmlformats.org/officeDocument/2006/relationships/notesSlide" Target="/ppt/notesSlides/notesSlide2.xml" Id="Rd625872e8035446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87a964a70624792" /><Relationship Type="http://schemas.openxmlformats.org/officeDocument/2006/relationships/notesSlide" Target="/ppt/notesSlides/notesSlide3.xml" Id="R0099e398e9a146e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4cee9f95823444e" /><Relationship Type="http://schemas.openxmlformats.org/officeDocument/2006/relationships/notesSlide" Target="/ppt/notesSlides/notesSlide4.xml" Id="Rbaa1160130b646c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bfa77e51e8e40ee" /><Relationship Type="http://schemas.openxmlformats.org/officeDocument/2006/relationships/notesSlide" Target="/ppt/notesSlides/notesSlide5.xml" Id="Re56aed81841f4b1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940fb6300de43b1" /><Relationship Type="http://schemas.openxmlformats.org/officeDocument/2006/relationships/notesSlide" Target="/ppt/notesSlides/notesSlide6.xml" Id="Ra49ba76fdc16463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8a839e408444543" /><Relationship Type="http://schemas.openxmlformats.org/officeDocument/2006/relationships/notesSlide" Target="/ppt/notesSlides/notesSlide7.xml" Id="R74fb8e45af654f9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5e9a7bfe0bf46bd" /><Relationship Type="http://schemas.openxmlformats.org/officeDocument/2006/relationships/notesSlide" Target="/ppt/notesSlides/notesSlide8.xml" Id="Rb5b287b5e7a9418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0d5ebd0f1404dbb" /><Relationship Type="http://schemas.openxmlformats.org/officeDocument/2006/relationships/notesSlide" Target="/ppt/notesSlides/notesSlide9.xml" Id="Rfeae8797d56e431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25a46f8de74416b" /><Relationship Type="http://schemas.openxmlformats.org/officeDocument/2006/relationships/notesSlide" Target="/ppt/notesSlides/notesSlide10.xml" Id="R3967e20464ff449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c5f6c4004cd41a5" /><Relationship Type="http://schemas.openxmlformats.org/officeDocument/2006/relationships/notesSlide" Target="/ppt/notesSlides/notesSlide11.xml" Id="R9944c4c881db4ef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4116dd480e542a8" /><Relationship Type="http://schemas.openxmlformats.org/officeDocument/2006/relationships/notesSlide" Target="/ppt/notesSlides/notesSlide12.xml" Id="R277011dc81d1451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354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BB6AB8-346A-4EE6-AF20-933E4ABF6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866775"/>
            <a:ext cx="66675" cy="500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D3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3643FD-2BCB-416B-B491-B1EA7311D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20015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70D3A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70D3AE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70D3AE"/>
                </a:solidFill>
                <a:latin typeface="Arial"/>
                <a:ea typeface="Arial"/>
                <a:cs typeface="Arial"/>
              </a:rPr>
              <a:t>OpenGuard Kids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86C883-1947-4472-91C4-7F7FCE046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038350"/>
            <a:ext cx="6762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4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4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Luồng hoạt động</a:t>
            </a:r>
          </a:p>
          <a:p xmlns:a="http://schemas.openxmlformats.org/drawingml/2006/main">
            <a:pPr algn="l">
              <a:defRPr sz="4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F2 và F3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8A52BE-7650-4071-BFAD-DC7A64AB3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762375"/>
            <a:ext cx="4857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D3E6D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D3E6D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D3E6DF"/>
                </a:solidFill>
                <a:latin typeface="Arial"/>
                <a:ea typeface="Arial"/>
                <a:cs typeface="Arial"/>
              </a:rPr>
              <a:t>Báo cáo kỹ thuật Tuần 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D159F6-0124-4C40-AA34-58E4642A2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1485900"/>
            <a:ext cx="1714500" cy="1714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8A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89CE28-6DD3-4479-8AB0-3DB5BE089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5025" y="2028825"/>
            <a:ext cx="628650" cy="628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35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96C552-0D6C-4C21-9EA1-317F7F274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552825"/>
            <a:ext cx="1104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4667"/>
          </a:bodyPr>
          <a:lstStyle xmlns:a="http://schemas.openxmlformats.org/drawingml/2006/main">
            <a:defPPr algn="ctr">
              <a:defRPr sz="1875" b="1">
                <a:solidFill>
                  <a:srgbClr val="70D3A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70D3AE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70D3AE"/>
                </a:solidFill>
                <a:latin typeface="Arial"/>
                <a:ea typeface="Arial"/>
                <a:cs typeface="Arial"/>
              </a:rPr>
              <a:t>APP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E46A5B-6A77-4BC6-A248-4638E15C8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3552825"/>
            <a:ext cx="1104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4667"/>
          </a:bodyPr>
          <a:lstStyle xmlns:a="http://schemas.openxmlformats.org/drawingml/2006/main">
            <a:defPPr algn="ctr">
              <a:defRPr sz="1875" b="1">
                <a:solidFill>
                  <a:srgbClr val="70D3A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70D3AE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70D3AE"/>
                </a:solidFill>
                <a:latin typeface="Arial"/>
                <a:ea typeface="Arial"/>
                <a:cs typeface="Arial"/>
              </a:rPr>
              <a:t>DNS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348DD6-A6EF-4B20-BB29-77BAB96EA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572125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>
            <a:defPPr algn="l">
              <a:defRPr sz="1050" b="1">
                <a:solidFill>
                  <a:srgbClr val="9CC7B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9CC7B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9CC7B8"/>
                </a:solidFill>
                <a:latin typeface="Arial"/>
                <a:ea typeface="Arial"/>
                <a:cs typeface="Arial"/>
              </a:rPr>
              <a:t>12.10.2026</a:t>
            </a:r>
          </a:p>
        </p:txBody>
      </p:sp>
    </p:spTree>
    <p:extLst>
      <p:ext uri="{BB962C8B-B14F-4D97-AF65-F5344CB8AC3E}">
        <p14:creationId xmlns:p14="http://schemas.microsoft.com/office/powerpoint/2010/main" val="174297839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AEEA3D3-BE78-4B00-A60E-E4155755C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8A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B7DB25-A380-44EA-9F8C-E5CEEA6D3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57175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>
            <a:defPPr algn="l">
              <a:defRPr sz="825" b="1">
                <a:solidFill>
                  <a:srgbClr val="1F8A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825" b="1">
                <a:solidFill>
                  <a:srgbClr val="1F8A7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F8A70"/>
                </a:solidFill>
                <a:latin typeface="Arial"/>
                <a:ea typeface="Arial"/>
                <a:cs typeface="Arial"/>
              </a:rPr>
              <a:t>OPEN GUARD KIDS · TUẦN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3B2CF2-0627-4228-816D-F5B451928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42925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9020"/>
          </a:bodyPr>
          <a:lstStyle xmlns:a="http://schemas.openxmlformats.org/drawingml/2006/main">
            <a:defPPr algn="l">
              <a:defRPr sz="2550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354A"/>
                </a:solidFill>
                <a:latin typeface="Arial"/>
                <a:ea typeface="Arial"/>
                <a:cs typeface="Arial"/>
              </a:rPr>
              <a:t>Kiến trúc thực thi chính sách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15A35A-CA2F-47D1-B852-BC6138ED7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26670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>
            <a:defPPr algn="r">
              <a:defRPr sz="825" b="1">
                <a:solidFill>
                  <a:srgbClr val="1F8A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825" b="1">
                <a:solidFill>
                  <a:srgbClr val="1F8A7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F8A7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F9D46F-6B27-4957-B7BD-D7C6A849D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123950"/>
            <a:ext cx="11144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4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2E7422-77D5-48AB-BDDF-F22AE6BFC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276350"/>
            <a:ext cx="10668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5C706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C706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C706A"/>
                </a:solidFill>
                <a:latin typeface="Arial"/>
                <a:ea typeface="Arial"/>
                <a:cs typeface="Arial"/>
              </a:rPr>
              <a:t>Dashboard cấu hình luật; Agent Service chịu trách nhiệm thực thi trên máy trẻ.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F04AD9-04AD-45C3-81E2-3368BE8BF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924050"/>
            <a:ext cx="1952625" cy="1285875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4D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62B86D-7894-487D-B98D-2159A6318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2038350"/>
            <a:ext cx="16859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0392"/>
          </a:bodyPr>
          <a:lstStyle xmlns:a="http://schemas.openxmlformats.org/drawingml/2006/main">
            <a:defPPr algn="ctr">
              <a:defRPr sz="1275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354A"/>
                </a:solidFill>
                <a:latin typeface="Arial"/>
                <a:ea typeface="Arial"/>
                <a:cs typeface="Arial"/>
              </a:rPr>
              <a:t>Dashboard phụ huynh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E90677-8D05-43E9-B47F-5B07176C3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2333625"/>
            <a:ext cx="168592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ctr">
              <a:defRPr sz="975" b="0">
                <a:solidFill>
                  <a:srgbClr val="5C706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75" b="0">
                <a:solidFill>
                  <a:srgbClr val="5C706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C706A"/>
                </a:solidFill>
                <a:latin typeface="Arial"/>
                <a:ea typeface="Arial"/>
                <a:cs typeface="Arial"/>
              </a:rPr>
              <a:t>Chọn hồ sơ</a:t>
            </a:r>
          </a:p>
          <a:p xmlns:a="http://schemas.openxmlformats.org/drawingml/2006/main">
            <a:pPr algn="ctr">
              <a:defRPr sz="975" b="0">
                <a:solidFill>
                  <a:srgbClr val="5C706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C706A"/>
                </a:solidFill>
                <a:latin typeface="Arial"/>
                <a:ea typeface="Arial"/>
                <a:cs typeface="Arial"/>
              </a:rPr>
              <a:t>Cấu hình app/web</a:t>
            </a:r>
          </a:p>
          <a:p xmlns:a="http://schemas.openxmlformats.org/drawingml/2006/main">
            <a:pPr algn="ctr">
              <a:defRPr sz="975" b="0">
                <a:solidFill>
                  <a:srgbClr val="5C706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C706A"/>
                </a:solidFill>
                <a:latin typeface="Arial"/>
                <a:ea typeface="Arial"/>
                <a:cs typeface="Arial"/>
              </a:rPr>
              <a:t>Xem sự kiện và báo cáo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B58CE0-637E-431E-9FC3-37AE74905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381250"/>
            <a:ext cx="7048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0D3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B2C5EE-CBE8-413C-9EC8-A44604F92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924050"/>
            <a:ext cx="1952625" cy="1285875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EAF3F7"/>
          </a:solidFill>
          <a:ln xmlns:a="http://schemas.openxmlformats.org/drawingml/2006/main" w="9525">
            <a:solidFill>
              <a:srgbClr val="1A536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D9A341-475F-4ACF-B8E0-AF008B64D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038350"/>
            <a:ext cx="16859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0392"/>
          </a:bodyPr>
          <a:lstStyle xmlns:a="http://schemas.openxmlformats.org/drawingml/2006/main">
            <a:defPPr algn="ctr">
              <a:defRPr sz="1275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354A"/>
                </a:solidFill>
                <a:latin typeface="Arial"/>
                <a:ea typeface="Arial"/>
                <a:cs typeface="Arial"/>
              </a:rPr>
              <a:t>FastAPI server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6D1F33A-9096-4F29-89C9-016D90EFA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333625"/>
            <a:ext cx="168592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ctr">
              <a:defRPr sz="975" b="0">
                <a:solidFill>
                  <a:srgbClr val="5C706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75" b="0">
                <a:solidFill>
                  <a:srgbClr val="5C706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C706A"/>
                </a:solidFill>
                <a:latin typeface="Arial"/>
                <a:ea typeface="Arial"/>
                <a:cs typeface="Arial"/>
              </a:rPr>
              <a:t>Lưu policy theo version</a:t>
            </a:r>
          </a:p>
          <a:p xmlns:a="http://schemas.openxmlformats.org/drawingml/2006/main">
            <a:pPr algn="ctr">
              <a:defRPr sz="975" b="0">
                <a:solidFill>
                  <a:srgbClr val="5C706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C706A"/>
                </a:solidFill>
                <a:latin typeface="Arial"/>
                <a:ea typeface="Arial"/>
                <a:cs typeface="Arial"/>
              </a:rPr>
              <a:t>Ký HMAC theo thiết bị</a:t>
            </a:r>
          </a:p>
          <a:p xmlns:a="http://schemas.openxmlformats.org/drawingml/2006/main">
            <a:pPr algn="ctr">
              <a:defRPr sz="975" b="0">
                <a:solidFill>
                  <a:srgbClr val="5C706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C706A"/>
                </a:solidFill>
                <a:latin typeface="Arial"/>
                <a:ea typeface="Arial"/>
                <a:cs typeface="Arial"/>
              </a:rPr>
              <a:t>Nhận event batch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401F37C-024D-4475-9674-83569A1BB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381250"/>
            <a:ext cx="7048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0D3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B07D2E-6A5B-4530-A763-C841EC3E6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924050"/>
            <a:ext cx="1952625" cy="1285875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E9F5F0"/>
          </a:solidFill>
          <a:ln xmlns:a="http://schemas.openxmlformats.org/drawingml/2006/main" w="9525">
            <a:solidFill>
              <a:srgbClr val="1F8A7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7E6D128-21C7-4F3E-88D4-ADB0E7E5E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38350"/>
            <a:ext cx="16859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0392"/>
          </a:bodyPr>
          <a:lstStyle xmlns:a="http://schemas.openxmlformats.org/drawingml/2006/main">
            <a:defPPr algn="ctr">
              <a:defRPr sz="1275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354A"/>
                </a:solidFill>
                <a:latin typeface="Arial"/>
                <a:ea typeface="Arial"/>
                <a:cs typeface="Arial"/>
              </a:rPr>
              <a:t>Windows Service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E3114CF-EFF6-49E2-BFC1-9F227A0DC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333625"/>
            <a:ext cx="168592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ctr">
              <a:defRPr sz="975" b="0">
                <a:solidFill>
                  <a:srgbClr val="5C706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75" b="0">
                <a:solidFill>
                  <a:srgbClr val="5C706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C706A"/>
                </a:solidFill>
                <a:latin typeface="Arial"/>
                <a:ea typeface="Arial"/>
                <a:cs typeface="Arial"/>
              </a:rPr>
              <a:t>Xác minh policy</a:t>
            </a:r>
          </a:p>
          <a:p xmlns:a="http://schemas.openxmlformats.org/drawingml/2006/main">
            <a:pPr algn="ctr">
              <a:defRPr sz="975" b="0">
                <a:solidFill>
                  <a:srgbClr val="5C706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C706A"/>
                </a:solidFill>
                <a:latin typeface="Arial"/>
                <a:ea typeface="Arial"/>
                <a:cs typeface="Arial"/>
              </a:rPr>
              <a:t>App Controller</a:t>
            </a:r>
          </a:p>
          <a:p xmlns:a="http://schemas.openxmlformats.org/drawingml/2006/main">
            <a:pPr algn="ctr">
              <a:defRPr sz="975" b="0">
                <a:solidFill>
                  <a:srgbClr val="5C706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C706A"/>
                </a:solidFill>
                <a:latin typeface="Arial"/>
                <a:ea typeface="Arial"/>
                <a:cs typeface="Arial"/>
              </a:rPr>
              <a:t>DNS proxy + outbox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3E63325-7D77-4B40-9E47-AAA6D6C78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381250"/>
            <a:ext cx="7048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0D3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D81F816-8437-4E40-8E0A-61ADEAAB0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1924050"/>
            <a:ext cx="1952625" cy="1285875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4D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984F79C-6248-4783-AD33-5ED104814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038350"/>
            <a:ext cx="16859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0392"/>
          </a:bodyPr>
          <a:lstStyle xmlns:a="http://schemas.openxmlformats.org/drawingml/2006/main">
            <a:defPPr algn="ctr">
              <a:defRPr sz="1275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354A"/>
                </a:solidFill>
                <a:latin typeface="Arial"/>
                <a:ea typeface="Arial"/>
                <a:cs typeface="Arial"/>
              </a:rPr>
              <a:t>Tray của trẻ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B7B535F-387B-4EEE-97F7-DD1CF6186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333625"/>
            <a:ext cx="168592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ctr">
              <a:defRPr sz="975" b="0">
                <a:solidFill>
                  <a:srgbClr val="5C706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75" b="0">
                <a:solidFill>
                  <a:srgbClr val="5C706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C706A"/>
                </a:solidFill>
                <a:latin typeface="Arial"/>
                <a:ea typeface="Arial"/>
                <a:cs typeface="Arial"/>
              </a:rPr>
              <a:t>Đăng nhập hồ sơ</a:t>
            </a:r>
          </a:p>
          <a:p xmlns:a="http://schemas.openxmlformats.org/drawingml/2006/main">
            <a:pPr algn="ctr">
              <a:defRPr sz="975" b="0">
                <a:solidFill>
                  <a:srgbClr val="5C706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C706A"/>
                </a:solidFill>
                <a:latin typeface="Arial"/>
                <a:ea typeface="Arial"/>
                <a:cs typeface="Arial"/>
              </a:rPr>
              <a:t>Heartbeat hiện diện</a:t>
            </a:r>
          </a:p>
          <a:p xmlns:a="http://schemas.openxmlformats.org/drawingml/2006/main">
            <a:pPr algn="ctr">
              <a:defRPr sz="975" b="0">
                <a:solidFill>
                  <a:srgbClr val="5C706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C706A"/>
                </a:solidFill>
                <a:latin typeface="Arial"/>
                <a:ea typeface="Arial"/>
                <a:cs typeface="Arial"/>
              </a:rPr>
              <a:t>Popup lý do chặn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7EB0BD5-D62E-41E8-9F6B-C5860B73B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2114550"/>
            <a:ext cx="523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9023"/>
          </a:bodyPr>
          <a:lstStyle xmlns:a="http://schemas.openxmlformats.org/drawingml/2006/main">
            <a:defPPr algn="ctr">
              <a:defRPr sz="825" b="1">
                <a:solidFill>
                  <a:srgbClr val="1F8A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825" b="1">
                <a:solidFill>
                  <a:srgbClr val="1F8A7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F8A70"/>
                </a:solidFill>
                <a:latin typeface="Arial"/>
                <a:ea typeface="Arial"/>
                <a:cs typeface="Arial"/>
              </a:rPr>
              <a:t>Kênh cấu hình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3F01801-5AB3-488B-BBC0-7825A1F8E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114550"/>
            <a:ext cx="5619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ctr">
              <a:defRPr sz="825" b="1">
                <a:solidFill>
                  <a:srgbClr val="1F8A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825" b="1">
                <a:solidFill>
                  <a:srgbClr val="1F8A7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F8A70"/>
                </a:solidFill>
                <a:latin typeface="Arial"/>
                <a:ea typeface="Arial"/>
                <a:cs typeface="Arial"/>
              </a:rPr>
              <a:t>Policy đã ký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BA695BC-D1AE-4983-954B-769C376EC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114550"/>
            <a:ext cx="5619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ctr">
              <a:defRPr sz="825" b="1">
                <a:solidFill>
                  <a:srgbClr val="1F8A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825" b="1">
                <a:solidFill>
                  <a:srgbClr val="1F8A7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F8A70"/>
                </a:solidFill>
                <a:latin typeface="Arial"/>
                <a:ea typeface="Arial"/>
                <a:cs typeface="Arial"/>
              </a:rPr>
              <a:t>Named pipe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703632B-B4AE-4C8A-9B84-A5AB2C842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905250"/>
            <a:ext cx="2143125" cy="1057275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4DE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3B734BC-536E-433C-BD2B-7DEDD3B6D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4019550"/>
            <a:ext cx="18764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0392"/>
          </a:bodyPr>
          <a:lstStyle xmlns:a="http://schemas.openxmlformats.org/drawingml/2006/main">
            <a:defPPr algn="ctr">
              <a:defRPr sz="1275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354A"/>
                </a:solidFill>
                <a:latin typeface="Arial"/>
                <a:ea typeface="Arial"/>
                <a:cs typeface="Arial"/>
              </a:rPr>
              <a:t>SQLite server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47D26CB-C459-4A8A-AB7B-32FA09742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4314825"/>
            <a:ext cx="1876425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ctr">
              <a:defRPr sz="975" b="0">
                <a:solidFill>
                  <a:srgbClr val="5C706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75" b="0">
                <a:solidFill>
                  <a:srgbClr val="5C706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C706A"/>
                </a:solidFill>
                <a:latin typeface="Arial"/>
                <a:ea typeface="Arial"/>
                <a:cs typeface="Arial"/>
              </a:rPr>
              <a:t>Policy, event, generation, audit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B4DFF1C-E4CC-480A-B752-9225CE8D6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3905250"/>
            <a:ext cx="2143125" cy="1057275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4DE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9F17A64-5C5E-4E4D-93BE-AF988796B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475" y="4019550"/>
            <a:ext cx="18764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0392"/>
          </a:bodyPr>
          <a:lstStyle xmlns:a="http://schemas.openxmlformats.org/drawingml/2006/main">
            <a:defPPr algn="ctr">
              <a:defRPr sz="1275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354A"/>
                </a:solidFill>
                <a:latin typeface="Arial"/>
                <a:ea typeface="Arial"/>
                <a:cs typeface="Arial"/>
              </a:rPr>
              <a:t>SQLite tại agent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AC7B25E-221A-4C17-8005-920D10746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475" y="4314825"/>
            <a:ext cx="1876425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ctr">
              <a:defRPr sz="975" b="0">
                <a:solidFill>
                  <a:srgbClr val="5C706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75" b="0">
                <a:solidFill>
                  <a:srgbClr val="5C706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C706A"/>
                </a:solidFill>
                <a:latin typeface="Arial"/>
                <a:ea typeface="Arial"/>
                <a:cs typeface="Arial"/>
              </a:rPr>
              <a:t>Outbox, history, policy cache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AA21434-DB7B-4066-933D-18114FE98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362325"/>
            <a:ext cx="247650" cy="4857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A53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89EA29E-CF94-4D15-9871-317C2BEE2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3362325"/>
            <a:ext cx="247650" cy="4857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F8A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C6EFFEE-BCF4-4C64-97F4-AC7C7F345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562600"/>
            <a:ext cx="1068705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FF3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334D03D-57E7-4CB4-A733-096B5D9A8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5734050"/>
            <a:ext cx="102298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2947"/>
          </a:bodyPr>
          <a:lstStyle xmlns:a="http://schemas.openxmlformats.org/drawingml/2006/main">
            <a:defPPr algn="ctr">
              <a:defRPr sz="1200" b="1">
                <a:solidFill>
                  <a:srgbClr val="7B571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7B571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7B571D"/>
                </a:solidFill>
                <a:latin typeface="Arial"/>
                <a:ea typeface="Arial"/>
                <a:cs typeface="Arial"/>
              </a:rPr>
              <a:t>Điều kiện thực thi: trẻ đã đăng nhập, Tray còn heartbeat và policy tương ứng đang bật. Nếu thiếu Tray, hệ thống không âm thầm thu thập hoặc chặn.</a:t>
            </a:r>
          </a:p>
        </p:txBody>
      </p:sp>
    </p:spTree>
    <p:extLst>
      <p:ext uri="{BB962C8B-B14F-4D97-AF65-F5344CB8AC3E}">
        <p14:creationId xmlns:p14="http://schemas.microsoft.com/office/powerpoint/2010/main" val="188521584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7C7CBF7-1044-4863-B58A-E2A1E3094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8A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926908-6AE0-4C9B-8A44-191B01DA0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57175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>
            <a:defPPr algn="l">
              <a:defRPr sz="825" b="1">
                <a:solidFill>
                  <a:srgbClr val="1F8A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825" b="1">
                <a:solidFill>
                  <a:srgbClr val="1F8A7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F8A70"/>
                </a:solidFill>
                <a:latin typeface="Arial"/>
                <a:ea typeface="Arial"/>
                <a:cs typeface="Arial"/>
              </a:rPr>
              <a:t>OPEN GUARD KIDS · TUẦN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DD67C5-1AD8-493F-8E29-4FFE0934B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42925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9020"/>
          </a:bodyPr>
          <a:lstStyle xmlns:a="http://schemas.openxmlformats.org/drawingml/2006/main">
            <a:defPPr algn="l">
              <a:defRPr sz="2550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354A"/>
                </a:solidFill>
                <a:latin typeface="Arial"/>
                <a:ea typeface="Arial"/>
                <a:cs typeface="Arial"/>
              </a:rPr>
              <a:t>Vòng đời chính sách app và web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88FDE8-D42F-422D-A9E6-2CE7AD8AE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26670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>
            <a:defPPr algn="r">
              <a:defRPr sz="825" b="1">
                <a:solidFill>
                  <a:srgbClr val="1F8A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825" b="1">
                <a:solidFill>
                  <a:srgbClr val="1F8A7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F8A7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EF6E99-F01B-49D9-AB8B-42603CBDD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123950"/>
            <a:ext cx="11144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4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2EE4F7-3215-4F90-AD5A-89DF8ABC8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276350"/>
            <a:ext cx="10668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5C706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C706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C706A"/>
                </a:solidFill>
                <a:latin typeface="Arial"/>
                <a:ea typeface="Arial"/>
                <a:cs typeface="Arial"/>
              </a:rPr>
              <a:t>Version và HMAC ngăn agent áp dụng policy sai thiết bị hoặc bị sửa trên đường truyền.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43CE55-6AA6-4B38-ACD1-9DED138EB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43100"/>
            <a:ext cx="285750" cy="238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8A7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5823"/>
          </a:bodyPr>
          <a:lstStyle xmlns:a="http://schemas.openxmlformats.org/drawingml/2006/main">
            <a:def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43A43B-A4F1-4B62-9C0C-2A726D435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14575"/>
            <a:ext cx="1762125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4D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2E76A2-F114-42B0-A45E-75F0D1B0A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28875"/>
            <a:ext cx="14954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417"/>
          </a:bodyPr>
          <a:lstStyle xmlns:a="http://schemas.openxmlformats.org/drawingml/2006/main">
            <a:defPPr algn="ctr">
              <a:defRPr sz="1200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354A"/>
                </a:solidFill>
                <a:latin typeface="Arial"/>
                <a:ea typeface="Arial"/>
                <a:cs typeface="Arial"/>
              </a:rPr>
              <a:t>Phụ huynh lưu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EA08F0-0A8A-479C-B720-82ADD8825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24150"/>
            <a:ext cx="1495425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ctr">
              <a:defRPr sz="975" b="0">
                <a:solidFill>
                  <a:srgbClr val="5C706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75" b="0">
                <a:solidFill>
                  <a:srgbClr val="5C706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C706A"/>
                </a:solidFill>
                <a:latin typeface="Arial"/>
                <a:ea typeface="Arial"/>
                <a:cs typeface="Arial"/>
              </a:rPr>
              <a:t>Gửi expected_version</a:t>
            </a:r>
          </a:p>
          <a:p xmlns:a="http://schemas.openxmlformats.org/drawingml/2006/main">
            <a:pPr algn="ctr">
              <a:defRPr sz="975" b="0">
                <a:solidFill>
                  <a:srgbClr val="5C706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C706A"/>
                </a:solidFill>
                <a:latin typeface="Arial"/>
                <a:ea typeface="Arial"/>
                <a:cs typeface="Arial"/>
              </a:rPr>
              <a:t>+ CSRF token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39CEF5-D359-4398-9869-5F32478B9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857500"/>
            <a:ext cx="409575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0D3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5AC220-093C-4905-A315-1F37719D1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943100"/>
            <a:ext cx="285750" cy="238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8A7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5823"/>
          </a:bodyPr>
          <a:lstStyle xmlns:a="http://schemas.openxmlformats.org/drawingml/2006/main">
            <a:def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53F4CF-4311-4C52-9DAC-15A1FB554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314575"/>
            <a:ext cx="1762125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4D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5DE1905-CA34-4043-89A2-BFBEA6560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428875"/>
            <a:ext cx="14954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417"/>
          </a:bodyPr>
          <a:lstStyle xmlns:a="http://schemas.openxmlformats.org/drawingml/2006/main">
            <a:defPPr algn="ctr">
              <a:defRPr sz="1200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354A"/>
                </a:solidFill>
                <a:latin typeface="Arial"/>
                <a:ea typeface="Arial"/>
                <a:cs typeface="Arial"/>
              </a:rPr>
              <a:t>Server kiểm tra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CF61D8B-F96A-461D-B768-A5CC535FA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724150"/>
            <a:ext cx="1495425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ctr">
              <a:defRPr sz="975" b="0">
                <a:solidFill>
                  <a:srgbClr val="5C706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75" b="0">
                <a:solidFill>
                  <a:srgbClr val="5C706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C706A"/>
                </a:solidFill>
                <a:latin typeface="Arial"/>
                <a:ea typeface="Arial"/>
                <a:cs typeface="Arial"/>
              </a:rPr>
              <a:t>Kiểm tra quyền sở hữu</a:t>
            </a:r>
          </a:p>
          <a:p xmlns:a="http://schemas.openxmlformats.org/drawingml/2006/main">
            <a:pPr algn="ctr">
              <a:defRPr sz="975" b="0">
                <a:solidFill>
                  <a:srgbClr val="5C706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C706A"/>
                </a:solidFill>
                <a:latin typeface="Arial"/>
                <a:ea typeface="Arial"/>
                <a:cs typeface="Arial"/>
              </a:rPr>
              <a:t>và xung đột version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D74288D-A711-4DC5-B390-ADCA3C280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857500"/>
            <a:ext cx="409575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0D3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9B08AB9-F4FC-498C-B01D-A82CD5CF6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943100"/>
            <a:ext cx="285750" cy="238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8A7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5823"/>
          </a:bodyPr>
          <a:lstStyle xmlns:a="http://schemas.openxmlformats.org/drawingml/2006/main">
            <a:def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11B3D49-93CA-4EC5-BBD9-61EFDADB6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314575"/>
            <a:ext cx="1762125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4D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AFD7C70-ECDB-40DE-A9A3-D818A1021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428875"/>
            <a:ext cx="14954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417"/>
          </a:bodyPr>
          <a:lstStyle xmlns:a="http://schemas.openxmlformats.org/drawingml/2006/main">
            <a:defPPr algn="ctr">
              <a:defRPr sz="1200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354A"/>
                </a:solidFill>
                <a:latin typeface="Arial"/>
                <a:ea typeface="Arial"/>
                <a:cs typeface="Arial"/>
              </a:rPr>
              <a:t>Server ký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B1B313B-5E2F-4796-9CDD-DC738ACD2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724150"/>
            <a:ext cx="1495425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ctr">
              <a:defRPr sz="975" b="0">
                <a:solidFill>
                  <a:srgbClr val="5C706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75" b="0">
                <a:solidFill>
                  <a:srgbClr val="5C706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C706A"/>
                </a:solidFill>
                <a:latin typeface="Arial"/>
                <a:ea typeface="Arial"/>
                <a:cs typeface="Arial"/>
              </a:rPr>
              <a:t>Gắn device_id</a:t>
            </a:r>
          </a:p>
          <a:p xmlns:a="http://schemas.openxmlformats.org/drawingml/2006/main">
            <a:pPr algn="ctr">
              <a:defRPr sz="975" b="0">
                <a:solidFill>
                  <a:srgbClr val="5C706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C706A"/>
                </a:solidFill>
                <a:latin typeface="Arial"/>
                <a:ea typeface="Arial"/>
                <a:cs typeface="Arial"/>
              </a:rPr>
              <a:t>HMAC-SHA256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BA5BE52-74AB-499A-9185-C11078670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857500"/>
            <a:ext cx="409575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0D3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CFA89B6-6CB5-445C-8ECD-7FE33E72B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1943100"/>
            <a:ext cx="285750" cy="238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A536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5823"/>
          </a:bodyPr>
          <a:lstStyle xmlns:a="http://schemas.openxmlformats.org/drawingml/2006/main">
            <a:def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4B1F84C-D4AA-4760-8E40-075E00D99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314575"/>
            <a:ext cx="1762125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EAF3F7"/>
          </a:solidFill>
          <a:ln xmlns:a="http://schemas.openxmlformats.org/drawingml/2006/main" w="9525">
            <a:solidFill>
              <a:srgbClr val="1A536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9B52F4D-874B-4113-80F8-1F16299F5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428875"/>
            <a:ext cx="14954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417"/>
          </a:bodyPr>
          <a:lstStyle xmlns:a="http://schemas.openxmlformats.org/drawingml/2006/main">
            <a:defPPr algn="ctr">
              <a:defRPr sz="1200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354A"/>
                </a:solidFill>
                <a:latin typeface="Arial"/>
                <a:ea typeface="Arial"/>
                <a:cs typeface="Arial"/>
              </a:rPr>
              <a:t>Agent xác minh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4747597-FC58-4FAB-A24C-EC7C43FFF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724150"/>
            <a:ext cx="1495425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ctr">
              <a:defRPr sz="975" b="0">
                <a:solidFill>
                  <a:srgbClr val="5C706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75" b="0">
                <a:solidFill>
                  <a:srgbClr val="5C706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C706A"/>
                </a:solidFill>
                <a:latin typeface="Arial"/>
                <a:ea typeface="Arial"/>
                <a:cs typeface="Arial"/>
              </a:rPr>
              <a:t>Đúng device_id</a:t>
            </a:r>
          </a:p>
          <a:p xmlns:a="http://schemas.openxmlformats.org/drawingml/2006/main">
            <a:pPr algn="ctr">
              <a:defRPr sz="975" b="0">
                <a:solidFill>
                  <a:srgbClr val="5C706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C706A"/>
                </a:solidFill>
                <a:latin typeface="Arial"/>
                <a:ea typeface="Arial"/>
                <a:cs typeface="Arial"/>
              </a:rPr>
              <a:t>Chữ ký hợp lệ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B4B89EE-524D-4CEA-8205-E5C7841CE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857500"/>
            <a:ext cx="409575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0D3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81D21EC-BEF4-409E-8815-8C2888F09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1943100"/>
            <a:ext cx="285750" cy="238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8A7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5823"/>
          </a:bodyPr>
          <a:lstStyle xmlns:a="http://schemas.openxmlformats.org/drawingml/2006/main">
            <a:def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D8842D9-EF6A-4AC5-A7B3-9176E5744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314575"/>
            <a:ext cx="1762125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4DE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F882478-065A-4BE6-BEBA-BFC24DEA3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428875"/>
            <a:ext cx="14954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417"/>
          </a:bodyPr>
          <a:lstStyle xmlns:a="http://schemas.openxmlformats.org/drawingml/2006/main">
            <a:defPPr algn="ctr">
              <a:defRPr sz="1200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354A"/>
                </a:solidFill>
                <a:latin typeface="Arial"/>
                <a:ea typeface="Arial"/>
                <a:cs typeface="Arial"/>
              </a:rPr>
              <a:t>Agent áp dụng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F1B6668-F1FD-434A-B811-63AD597F8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724150"/>
            <a:ext cx="1495425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ctr">
              <a:defRPr sz="975" b="0">
                <a:solidFill>
                  <a:srgbClr val="5C706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75" b="0">
                <a:solidFill>
                  <a:srgbClr val="5C706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C706A"/>
                </a:solidFill>
                <a:latin typeface="Arial"/>
                <a:ea typeface="Arial"/>
                <a:cs typeface="Arial"/>
              </a:rPr>
              <a:t>Cập nhật core</a:t>
            </a:r>
          </a:p>
          <a:p xmlns:a="http://schemas.openxmlformats.org/drawingml/2006/main">
            <a:pPr algn="ctr">
              <a:defRPr sz="975" b="0">
                <a:solidFill>
                  <a:srgbClr val="5C706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C706A"/>
                </a:solidFill>
                <a:latin typeface="Arial"/>
                <a:ea typeface="Arial"/>
                <a:cs typeface="Arial"/>
              </a:rPr>
              <a:t>và lưu cache offline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91E7AF0-758F-4B21-8F7C-EF3A84BC3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4181475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>
            <a:defPPr algn="ctr">
              <a:defRPr sz="1200" b="1">
                <a:solidFill>
                  <a:srgbClr val="C94D5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C94D5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C94D52"/>
                </a:solidFill>
                <a:latin typeface="Arial"/>
                <a:ea typeface="Arial"/>
                <a:cs typeface="Arial"/>
              </a:rPr>
              <a:t>Nếu chữ ký hoặc device_id sai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0C01847-310C-4C5A-AE30-7EBBD0084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790950"/>
            <a:ext cx="238125" cy="3333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94D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F740CE3-F922-490E-908D-97225847B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591050"/>
            <a:ext cx="24955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0F0"/>
          </a:solidFill>
          <a:ln xmlns:a="http://schemas.openxmlformats.org/drawingml/2006/main" w="9525">
            <a:solidFill>
              <a:srgbClr val="C94D52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CE5D9D1-CA2E-4402-B1EF-A461A805B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705350"/>
            <a:ext cx="2228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0392"/>
          </a:bodyPr>
          <a:lstStyle xmlns:a="http://schemas.openxmlformats.org/drawingml/2006/main">
            <a:defPPr algn="ctr">
              <a:defRPr sz="1275" b="1">
                <a:solidFill>
                  <a:srgbClr val="C94D5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C94D5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C94D52"/>
                </a:solidFill>
                <a:latin typeface="Arial"/>
                <a:ea typeface="Arial"/>
                <a:cs typeface="Arial"/>
              </a:rPr>
              <a:t>Từ chối policy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E486B33-2420-451A-BF0D-EA8BA3061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5000625"/>
            <a:ext cx="2228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1250"/>
          </a:bodyPr>
          <a:lstStyle xmlns:a="http://schemas.openxmlformats.org/drawingml/2006/main">
            <a:defPPr algn="ctr">
              <a:defRPr sz="975" b="0">
                <a:solidFill>
                  <a:srgbClr val="8E444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75" b="0">
                <a:solidFill>
                  <a:srgbClr val="8E444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8E4447"/>
                </a:solidFill>
                <a:latin typeface="Arial"/>
                <a:ea typeface="Arial"/>
                <a:cs typeface="Arial"/>
              </a:rPr>
              <a:t>Giữ policy cache hợp lệ trước đó và ghi lỗi trạng thái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61815B0-7A96-446D-9937-47DCB78AD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00725"/>
            <a:ext cx="10668000" cy="428625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9F5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5A94D7F-F4F2-40C4-ADB2-9C8F8DF3E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905500"/>
            <a:ext cx="10239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0000"/>
          </a:bodyPr>
          <a:lstStyle xmlns:a="http://schemas.openxmlformats.org/drawingml/2006/main">
            <a:defPPr algn="ctr">
              <a:defRPr sz="1125" b="1">
                <a:solidFill>
                  <a:srgbClr val="1F8A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25" b="1">
                <a:solidFill>
                  <a:srgbClr val="1F8A7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F8A70"/>
                </a:solidFill>
                <a:latin typeface="Arial"/>
                <a:ea typeface="Arial"/>
                <a:cs typeface="Arial"/>
              </a:rPr>
              <a:t>Policy ứng dụng và web được đồng bộ trong vòng activity sync 5 giây; cache cho phép agent giữ luật gần nhất khi server tạm mất kết nối.</a:t>
            </a:r>
          </a:p>
        </p:txBody>
      </p:sp>
    </p:spTree>
    <p:extLst>
      <p:ext uri="{BB962C8B-B14F-4D97-AF65-F5344CB8AC3E}">
        <p14:creationId xmlns:p14="http://schemas.microsoft.com/office/powerpoint/2010/main" val="182975384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29C1829-A108-47C7-B1C1-89D13C3EE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8A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B2E2CC-CFD2-4BA1-A9A0-62EC1ABAE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57175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>
            <a:defPPr algn="l">
              <a:defRPr sz="825" b="1">
                <a:solidFill>
                  <a:srgbClr val="1F8A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825" b="1">
                <a:solidFill>
                  <a:srgbClr val="1F8A7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F8A70"/>
                </a:solidFill>
                <a:latin typeface="Arial"/>
                <a:ea typeface="Arial"/>
                <a:cs typeface="Arial"/>
              </a:rPr>
              <a:t>OPEN GUARD KIDS · TUẦN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7E47B9-4660-4242-A7EB-475507D6B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42925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9020"/>
          </a:bodyPr>
          <a:lstStyle xmlns:a="http://schemas.openxmlformats.org/drawingml/2006/main">
            <a:defPPr algn="l">
              <a:defRPr sz="2550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354A"/>
                </a:solidFill>
                <a:latin typeface="Arial"/>
                <a:ea typeface="Arial"/>
                <a:cs typeface="Arial"/>
              </a:rPr>
              <a:t>Luồng chặn ứng dụng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BA73A0-CC39-4F1B-AB64-E93FBEEC4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26670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>
            <a:defPPr algn="r">
              <a:defRPr sz="825" b="1">
                <a:solidFill>
                  <a:srgbClr val="1F8A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825" b="1">
                <a:solidFill>
                  <a:srgbClr val="1F8A7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F8A7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B298D3-F046-459F-9411-04A8AD82C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123950"/>
            <a:ext cx="11144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4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98D298-42A0-4154-83A8-0A297EA9E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276350"/>
            <a:ext cx="10668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5C706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C706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C706A"/>
                </a:solidFill>
                <a:latin typeface="Arial"/>
                <a:ea typeface="Arial"/>
                <a:cs typeface="Arial"/>
              </a:rPr>
              <a:t>App Controller chỉ xét tiến trình trong cùng Windows session với Tray của trẻ.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70D1DB-817A-4873-A671-188C36BB1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657350"/>
            <a:ext cx="175260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4D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7B7232-3D51-4617-B45E-F066B008D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71650"/>
            <a:ext cx="1485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417"/>
          </a:bodyPr>
          <a:lstStyle xmlns:a="http://schemas.openxmlformats.org/drawingml/2006/main">
            <a:defPPr algn="ctr">
              <a:defRPr sz="1200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354A"/>
                </a:solidFill>
                <a:latin typeface="Arial"/>
                <a:ea typeface="Arial"/>
                <a:cs typeface="Arial"/>
              </a:rPr>
              <a:t>Dashboard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E27B0D-CF32-4121-9CD0-9B7E38002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66925"/>
            <a:ext cx="1485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8485"/>
          </a:bodyPr>
          <a:lstStyle xmlns:a="http://schemas.openxmlformats.org/drawingml/2006/main">
            <a:defPPr algn="ctr">
              <a:defRPr sz="825" b="0">
                <a:solidFill>
                  <a:srgbClr val="5C706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825" b="0">
                <a:solidFill>
                  <a:srgbClr val="5C706A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C706A"/>
                </a:solidFill>
                <a:latin typeface="Arial"/>
                <a:ea typeface="Arial"/>
                <a:cs typeface="Arial"/>
              </a:rPr>
              <a:t>phụ huynh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2352B9-C374-4412-8D8F-24EDFCE51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2305050"/>
            <a:ext cx="19050" cy="385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4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CBB806-04A4-4845-A643-C510D0ECF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1657350"/>
            <a:ext cx="175260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4D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F23FC6-E8B0-4DF6-A818-E321FEC4C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1771650"/>
            <a:ext cx="1485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417"/>
          </a:bodyPr>
          <a:lstStyle xmlns:a="http://schemas.openxmlformats.org/drawingml/2006/main">
            <a:defPPr algn="ctr">
              <a:defRPr sz="1200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354A"/>
                </a:solidFill>
                <a:latin typeface="Arial"/>
                <a:ea typeface="Arial"/>
                <a:cs typeface="Arial"/>
              </a:rPr>
              <a:t>Server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84A521-D16D-4BA2-A92C-FEA81E956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066925"/>
            <a:ext cx="1485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8485"/>
          </a:bodyPr>
          <a:lstStyle xmlns:a="http://schemas.openxmlformats.org/drawingml/2006/main">
            <a:defPPr algn="ctr">
              <a:defRPr sz="825" b="0">
                <a:solidFill>
                  <a:srgbClr val="5C706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825" b="0">
                <a:solidFill>
                  <a:srgbClr val="5C706A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C706A"/>
                </a:solidFill>
                <a:latin typeface="Arial"/>
                <a:ea typeface="Arial"/>
                <a:cs typeface="Arial"/>
              </a:rPr>
              <a:t>policy + HMAC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42BC9B4-9DC2-4385-8098-52C6E9DCE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2305050"/>
            <a:ext cx="19050" cy="385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4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5E075B4-BE02-480B-A2AD-D990C8BCD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1657350"/>
            <a:ext cx="175260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4D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7928940-D69B-4D3C-93B5-58CB1E87B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1771650"/>
            <a:ext cx="1485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417"/>
          </a:bodyPr>
          <a:lstStyle xmlns:a="http://schemas.openxmlformats.org/drawingml/2006/main">
            <a:defPPr algn="ctr">
              <a:defRPr sz="1200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354A"/>
                </a:solidFill>
                <a:latin typeface="Arial"/>
                <a:ea typeface="Arial"/>
                <a:cs typeface="Arial"/>
              </a:rPr>
              <a:t>Agent Service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129720A-A93A-4A81-8CA1-83F0037A5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066925"/>
            <a:ext cx="1485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8485"/>
          </a:bodyPr>
          <a:lstStyle xmlns:a="http://schemas.openxmlformats.org/drawingml/2006/main">
            <a:defPPr algn="ctr">
              <a:defRPr sz="825" b="0">
                <a:solidFill>
                  <a:srgbClr val="5C706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825" b="0">
                <a:solidFill>
                  <a:srgbClr val="5C706A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C706A"/>
                </a:solidFill>
                <a:latin typeface="Arial"/>
                <a:ea typeface="Arial"/>
                <a:cs typeface="Arial"/>
              </a:rPr>
              <a:t>App Controller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FEEE40A-0FA7-4358-A2ED-C893DAE47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1225" y="2305050"/>
            <a:ext cx="19050" cy="385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4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F971694-2CAF-4A81-8251-6B22C640F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1657350"/>
            <a:ext cx="175260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4D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52DD156-5BC7-4384-A73D-38959056C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1771650"/>
            <a:ext cx="1485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417"/>
          </a:bodyPr>
          <a:lstStyle xmlns:a="http://schemas.openxmlformats.org/drawingml/2006/main">
            <a:defPPr algn="ctr">
              <a:defRPr sz="1200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354A"/>
                </a:solidFill>
                <a:latin typeface="Arial"/>
                <a:ea typeface="Arial"/>
                <a:cs typeface="Arial"/>
              </a:rPr>
              <a:t>Windows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6FA206C-3B6D-4010-8B25-BF16EA533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066925"/>
            <a:ext cx="1485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8485"/>
          </a:bodyPr>
          <a:lstStyle xmlns:a="http://schemas.openxmlformats.org/drawingml/2006/main">
            <a:defPPr algn="ctr">
              <a:defRPr sz="825" b="0">
                <a:solidFill>
                  <a:srgbClr val="5C706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825" b="0">
                <a:solidFill>
                  <a:srgbClr val="5C706A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C706A"/>
                </a:solidFill>
                <a:latin typeface="Arial"/>
                <a:ea typeface="Arial"/>
                <a:cs typeface="Arial"/>
              </a:rPr>
              <a:t>process của trẻ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DC170F2-6EEE-42A6-848F-041EF4014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305050"/>
            <a:ext cx="19050" cy="385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4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326B969-4410-4858-8256-FB5FB3949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1657350"/>
            <a:ext cx="175260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4DE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E7CA735-4355-44EB-AE4E-D97739887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1771650"/>
            <a:ext cx="1485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417"/>
          </a:bodyPr>
          <a:lstStyle xmlns:a="http://schemas.openxmlformats.org/drawingml/2006/main">
            <a:defPPr algn="ctr">
              <a:defRPr sz="1200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354A"/>
                </a:solidFill>
                <a:latin typeface="Arial"/>
                <a:ea typeface="Arial"/>
                <a:cs typeface="Arial"/>
              </a:rPr>
              <a:t>Tray / Event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978DDC3-7AC9-40E0-9C64-CCD4E8E6F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2066925"/>
            <a:ext cx="1485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8485"/>
          </a:bodyPr>
          <a:lstStyle xmlns:a="http://schemas.openxmlformats.org/drawingml/2006/main">
            <a:defPPr algn="ctr">
              <a:defRPr sz="825" b="0">
                <a:solidFill>
                  <a:srgbClr val="5C706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825" b="0">
                <a:solidFill>
                  <a:srgbClr val="5C706A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C706A"/>
                </a:solidFill>
                <a:latin typeface="Arial"/>
                <a:ea typeface="Arial"/>
                <a:cs typeface="Arial"/>
              </a:rPr>
              <a:t>lý do + lịch sử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881A1DD-C4E3-4BF9-8E56-E2B099C1D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77525" y="2305050"/>
            <a:ext cx="19050" cy="385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4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55F9F95-2C13-4C86-BD6E-C8FF9EBE9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628900"/>
            <a:ext cx="23431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F8A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4DA9CD7-4410-4C9B-9002-B52E826F7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409825"/>
            <a:ext cx="257175" cy="238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8A7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>
            <a:def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9497989-C8A2-45C9-A3E4-B5927CB54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075" y="2400300"/>
            <a:ext cx="19335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0354A"/>
                </a:solidFill>
                <a:latin typeface="Arial"/>
                <a:ea typeface="Arial"/>
                <a:cs typeface="Arial"/>
              </a:rPr>
              <a:t>Lưu rule {name, SHA-256}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7DA3F43-4C9E-4283-A209-EBA528716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314700"/>
            <a:ext cx="23431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F8A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217E82A-CAD0-4884-87AE-0A95A0382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095625"/>
            <a:ext cx="257175" cy="238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8A7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>
            <a:def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B38AFAF-8100-423D-9D54-F0B5C920F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3086100"/>
            <a:ext cx="19335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0354A"/>
                </a:solidFill>
                <a:latin typeface="Arial"/>
                <a:ea typeface="Arial"/>
                <a:cs typeface="Arial"/>
              </a:rPr>
              <a:t>Đồng bộ policy đã ký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4A2E1DD-1D84-4EDE-98D6-F6C11305D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000500"/>
            <a:ext cx="23431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A53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722A944-6220-416F-87B6-86CFC8E06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781425"/>
            <a:ext cx="257175" cy="238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A536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>
            <a:def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825D5BB-B825-4A5F-9D91-C689D89D0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771900"/>
            <a:ext cx="19335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0354A"/>
                </a:solidFill>
                <a:latin typeface="Arial"/>
                <a:ea typeface="Arial"/>
                <a:cs typeface="Arial"/>
              </a:rPr>
              <a:t>Quét process mỗi 1 giây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3259FBB-3368-4C91-8BF8-FBDB85A4B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686300"/>
            <a:ext cx="2343150" cy="19050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1A53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2884746-D5A8-4877-8DDE-A03A176CB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467225"/>
            <a:ext cx="257175" cy="238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A536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>
            <a:def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9A28565-2E1A-451E-B3B8-E779DBC09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457700"/>
            <a:ext cx="19335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0354A"/>
                </a:solidFill>
                <a:latin typeface="Arial"/>
                <a:ea typeface="Arial"/>
                <a:cs typeface="Arial"/>
              </a:rPr>
              <a:t>PID, create_time, exe path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D682173-58C8-4798-B05D-82557C6BC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372100"/>
            <a:ext cx="23431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94D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A28F1D4-149B-46BF-93FF-98B8BA5C6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5153025"/>
            <a:ext cx="257175" cy="238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94D5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>
            <a:def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432ED99-5B95-4A4F-8157-2208A03A5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5143500"/>
            <a:ext cx="19335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0354A"/>
                </a:solidFill>
                <a:latin typeface="Arial"/>
                <a:ea typeface="Arial"/>
                <a:cs typeface="Arial"/>
              </a:rPr>
              <a:t>Hash khớp blocklist: kill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CE368E0-753C-40A0-AD7F-8FE382ACB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962650"/>
            <a:ext cx="46863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F8A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B81AF29-5E3A-4C23-AE75-18934B2F1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5743575"/>
            <a:ext cx="257175" cy="238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8A7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>
            <a:def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C9CF4FE-BD43-4969-B36D-668DB1A8C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5734050"/>
            <a:ext cx="42767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0354A"/>
                </a:solidFill>
                <a:latin typeface="Arial"/>
                <a:ea typeface="Arial"/>
                <a:cs typeface="Arial"/>
              </a:rPr>
              <a:t>blocked_app + reason</a:t>
            </a:r>
          </a:p>
        </p:txBody>
      </p:sp>
    </p:spTree>
    <p:extLst>
      <p:ext uri="{BB962C8B-B14F-4D97-AF65-F5344CB8AC3E}">
        <p14:creationId xmlns:p14="http://schemas.microsoft.com/office/powerpoint/2010/main" val="162907416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971D57F-392E-43E0-AD4D-F32D80CFB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8A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B2075B-E183-43AB-8E92-BC2463B8C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57175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>
            <a:defPPr algn="l">
              <a:defRPr sz="825" b="1">
                <a:solidFill>
                  <a:srgbClr val="1F8A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825" b="1">
                <a:solidFill>
                  <a:srgbClr val="1F8A7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F8A70"/>
                </a:solidFill>
                <a:latin typeface="Arial"/>
                <a:ea typeface="Arial"/>
                <a:cs typeface="Arial"/>
              </a:rPr>
              <a:t>OPEN GUARD KIDS · TUẦN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99D612-07D5-4E81-9635-7F8A71C41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42925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9020"/>
          </a:bodyPr>
          <a:lstStyle xmlns:a="http://schemas.openxmlformats.org/drawingml/2006/main">
            <a:defPPr algn="l">
              <a:defRPr sz="2550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354A"/>
                </a:solidFill>
                <a:latin typeface="Arial"/>
                <a:ea typeface="Arial"/>
                <a:cs typeface="Arial"/>
              </a:rPr>
              <a:t>Cây quyết định kiểm soát ứng dụng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00436D-080A-4C02-A25C-A60D884A7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26670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>
            <a:defPPr algn="r">
              <a:defRPr sz="825" b="1">
                <a:solidFill>
                  <a:srgbClr val="1F8A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825" b="1">
                <a:solidFill>
                  <a:srgbClr val="1F8A7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F8A70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9533D1-CA16-4EB8-A9D8-38820C327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123950"/>
            <a:ext cx="11144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4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0555FE-6875-4C31-BAE7-FC57A6C83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276350"/>
            <a:ext cx="10668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5C706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C706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C706A"/>
                </a:solidFill>
                <a:latin typeface="Arial"/>
                <a:ea typeface="Arial"/>
                <a:cs typeface="Arial"/>
              </a:rPr>
              <a:t>Tên giúp phụ huynh nhận biết; SHA-256 mới là căn cứ ra quyết định.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FC56F9-251F-4FF5-9CF9-A5C76E854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62125"/>
            <a:ext cx="2143125" cy="6858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AF3F7"/>
          </a:solidFill>
          <a:ln xmlns:a="http://schemas.openxmlformats.org/drawingml/2006/main" w="9525">
            <a:solidFill>
              <a:srgbClr val="1A5368"/>
            </a:solidFill>
            <a:prstDash val="solid"/>
          </a:ln>
        </p:spPr>
        <p:txBody>
          <a:bodyPr xmlns:a="http://schemas.openxmlformats.org/drawingml/2006/main">
            <a:normAutofit fontScale="52381"/>
          </a:bodyPr>
          <a:lstStyle xmlns:a="http://schemas.openxmlformats.org/drawingml/2006/main">
            <a:defPPr algn="ctr">
              <a:defRPr sz="1050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50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0354A"/>
                </a:solidFill>
                <a:latin typeface="Arial"/>
                <a:ea typeface="Arial"/>
                <a:cs typeface="Arial"/>
              </a:rPr>
              <a:t>Có activity context?</a:t>
            </a:r>
          </a:p>
          <a:p xmlns:a="http://schemas.openxmlformats.org/drawingml/2006/main">
            <a:pPr algn="ctr">
              <a:defRPr sz="1050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0354A"/>
                </a:solidFill>
                <a:latin typeface="Arial"/>
                <a:ea typeface="Arial"/>
                <a:cs typeface="Arial"/>
              </a:rPr>
              <a:t>Trẻ đăng nhập + Tray hiện diện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AFD475-5107-4111-90D1-71D6FC590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981200"/>
            <a:ext cx="952500" cy="2381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94D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A09B42-AA1A-4308-B9C0-FD77B84C2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695450"/>
            <a:ext cx="70485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94D5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5838"/>
          </a:bodyPr>
          <a:lstStyle xmlns:a="http://schemas.openxmlformats.org/drawingml/2006/main">
            <a:def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KHÔNG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35CBE1-DE67-4555-BAEB-62A291EA8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1752600"/>
            <a:ext cx="1952625" cy="714375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0F0"/>
          </a:solidFill>
          <a:ln xmlns:a="http://schemas.openxmlformats.org/drawingml/2006/main" w="9525">
            <a:solidFill>
              <a:srgbClr val="C94D5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E7E817-150D-4702-9E09-05F2B49B3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1866900"/>
            <a:ext cx="16859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0392"/>
          </a:bodyPr>
          <a:lstStyle xmlns:a="http://schemas.openxmlformats.org/drawingml/2006/main">
            <a:defPPr algn="ctr">
              <a:defRPr sz="1275" b="1">
                <a:solidFill>
                  <a:srgbClr val="C94D5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C94D5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C94D52"/>
                </a:solidFill>
                <a:latin typeface="Arial"/>
                <a:ea typeface="Arial"/>
                <a:cs typeface="Arial"/>
              </a:rPr>
              <a:t>Dừng xử lý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FF286F-1EF5-4B7A-AF08-A12FFD63C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2162175"/>
            <a:ext cx="16859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9496"/>
          </a:bodyPr>
          <a:lstStyle xmlns:a="http://schemas.openxmlformats.org/drawingml/2006/main">
            <a:defPPr algn="ctr">
              <a:defRPr sz="975" b="0">
                <a:solidFill>
                  <a:srgbClr val="5C706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75" b="0">
                <a:solidFill>
                  <a:srgbClr val="5C706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C706A"/>
                </a:solidFill>
                <a:latin typeface="Arial"/>
                <a:ea typeface="Arial"/>
                <a:cs typeface="Arial"/>
              </a:rPr>
              <a:t>Không quét và xóa trạng thái seen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04525FD-3298-4A90-BD62-A1AC48EE0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505075"/>
            <a:ext cx="247650" cy="4476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F8A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CF36041-01C9-4258-8E31-4D4DC2BA9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2609850"/>
            <a:ext cx="4953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8A7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5838"/>
          </a:bodyPr>
          <a:lstStyle xmlns:a="http://schemas.openxmlformats.org/drawingml/2006/main">
            <a:def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CÓ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1EAEE34-0BA7-4714-804D-F9F9BF3CE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38475"/>
            <a:ext cx="2143125" cy="6858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4DE"/>
            </a:solidFill>
            <a:prstDash val="solid"/>
          </a:ln>
        </p:spPr>
        <p:txBody>
          <a:bodyPr xmlns:a="http://schemas.openxmlformats.org/drawingml/2006/main">
            <a:normAutofit fontScale="50311"/>
          </a:bodyPr>
          <a:lstStyle xmlns:a="http://schemas.openxmlformats.org/drawingml/2006/main">
            <a:defPPr algn="ctr">
              <a:defRPr sz="1050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50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0354A"/>
                </a:solidFill>
                <a:latin typeface="Arial"/>
                <a:ea typeface="Arial"/>
                <a:cs typeface="Arial"/>
              </a:rPr>
              <a:t>Protected Windows process?</a:t>
            </a:r>
          </a:p>
          <a:p xmlns:a="http://schemas.openxmlformats.org/drawingml/2006/main">
            <a:pPr algn="ctr">
              <a:defRPr sz="1050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0354A"/>
                </a:solidFill>
                <a:latin typeface="Arial"/>
                <a:ea typeface="Arial"/>
                <a:cs typeface="Arial"/>
              </a:rPr>
              <a:t>Tên + vị trí Windows tin cậy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BE4A6B2-64D0-48D7-85A0-CC256B209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257550"/>
            <a:ext cx="952500" cy="2381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8A1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17E5FCC-5718-41DD-B178-471629788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971800"/>
            <a:ext cx="4953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A13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5838"/>
          </a:bodyPr>
          <a:lstStyle xmlns:a="http://schemas.openxmlformats.org/drawingml/2006/main">
            <a:def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CÓ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A3D0759-2FF8-4AB0-88B8-2061D1E84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3028950"/>
            <a:ext cx="1952625" cy="714375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3DE"/>
          </a:solidFill>
          <a:ln xmlns:a="http://schemas.openxmlformats.org/drawingml/2006/main" w="9525">
            <a:solidFill>
              <a:srgbClr val="E8A13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3981185-D936-4F36-8AC9-03553566D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3143250"/>
            <a:ext cx="16859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0392"/>
          </a:bodyPr>
          <a:lstStyle xmlns:a="http://schemas.openxmlformats.org/drawingml/2006/main">
            <a:defPPr algn="ctr">
              <a:defRPr sz="1275" b="1">
                <a:solidFill>
                  <a:srgbClr val="8D64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8D641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8D641F"/>
                </a:solidFill>
                <a:latin typeface="Arial"/>
                <a:ea typeface="Arial"/>
                <a:cs typeface="Arial"/>
              </a:rPr>
              <a:t>Bỏ qua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2FAFB9F-2B14-414A-B2D5-9AE1E9686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3438525"/>
            <a:ext cx="16859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6535"/>
          </a:bodyPr>
          <a:lstStyle xmlns:a="http://schemas.openxmlformats.org/drawingml/2006/main">
            <a:defPPr algn="ctr">
              <a:defRPr sz="975" b="0">
                <a:solidFill>
                  <a:srgbClr val="5C706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75" b="0">
                <a:solidFill>
                  <a:srgbClr val="5C706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C706A"/>
                </a:solidFill>
                <a:latin typeface="Arial"/>
                <a:ea typeface="Arial"/>
                <a:cs typeface="Arial"/>
              </a:rPr>
              <a:t>Không terminate thành phần giao diện Windows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96CC90B-C98B-4420-BBC4-8B7F791E5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790950"/>
            <a:ext cx="247650" cy="4191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F8A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B1295BB-1EBD-4BE6-9D7A-C4E9ACF48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76675"/>
            <a:ext cx="70485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8A7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5838"/>
          </a:bodyPr>
          <a:lstStyle xmlns:a="http://schemas.openxmlformats.org/drawingml/2006/main">
            <a:def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KHÔNG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58D2EFE-6EF9-45FB-98FD-2CD2E2B58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05300"/>
            <a:ext cx="2143125" cy="6858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4DE"/>
            </a:solidFill>
            <a:prstDash val="solid"/>
          </a:ln>
        </p:spPr>
        <p:txBody>
          <a:bodyPr xmlns:a="http://schemas.openxmlformats.org/drawingml/2006/main">
            <a:normAutofit fontScale="52381"/>
          </a:bodyPr>
          <a:lstStyle xmlns:a="http://schemas.openxmlformats.org/drawingml/2006/main">
            <a:defPPr algn="ctr">
              <a:defRPr sz="1050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50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0354A"/>
                </a:solidFill>
                <a:latin typeface="Arial"/>
                <a:ea typeface="Arial"/>
                <a:cs typeface="Arial"/>
              </a:rPr>
              <a:t>Hash nằm trong app_block?</a:t>
            </a:r>
          </a:p>
          <a:p xmlns:a="http://schemas.openxmlformats.org/drawingml/2006/main">
            <a:pPr algn="ctr">
              <a:defRPr sz="1050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0354A"/>
                </a:solidFill>
                <a:latin typeface="Arial"/>
                <a:ea typeface="Arial"/>
                <a:cs typeface="Arial"/>
              </a:rPr>
              <a:t>Blocklist ưu tiên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76EF4FC-4D52-4B7C-B029-1C9120295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524375"/>
            <a:ext cx="952500" cy="2381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94D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6050248-4701-4DAF-B62D-5622B7FE0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4238625"/>
            <a:ext cx="4953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94D5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5838"/>
          </a:bodyPr>
          <a:lstStyle xmlns:a="http://schemas.openxmlformats.org/drawingml/2006/main">
            <a:def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CÓ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438302C-3EB6-43C0-AA62-80119C5E5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4295775"/>
            <a:ext cx="1952625" cy="714375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0F0"/>
          </a:solidFill>
          <a:ln xmlns:a="http://schemas.openxmlformats.org/drawingml/2006/main" w="9525">
            <a:solidFill>
              <a:srgbClr val="C94D52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FDBF021-F205-4A60-B59D-5D6E6FB6E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4410075"/>
            <a:ext cx="16859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0392"/>
          </a:bodyPr>
          <a:lstStyle xmlns:a="http://schemas.openxmlformats.org/drawingml/2006/main">
            <a:defPPr algn="ctr">
              <a:defRPr sz="1275" b="1">
                <a:solidFill>
                  <a:srgbClr val="C94D5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C94D5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C94D52"/>
                </a:solidFill>
                <a:latin typeface="Arial"/>
                <a:ea typeface="Arial"/>
                <a:cs typeface="Arial"/>
              </a:rPr>
              <a:t>BLOCK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E622E85-3B0A-4047-9E01-3CC368B44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4705350"/>
            <a:ext cx="16859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1781"/>
          </a:bodyPr>
          <a:lstStyle xmlns:a="http://schemas.openxmlformats.org/drawingml/2006/main">
            <a:defPPr algn="ctr">
              <a:defRPr sz="975" b="0">
                <a:solidFill>
                  <a:srgbClr val="5C706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75" b="0">
                <a:solidFill>
                  <a:srgbClr val="5C706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C706A"/>
                </a:solidFill>
                <a:latin typeface="Arial"/>
                <a:ea typeface="Arial"/>
                <a:cs typeface="Arial"/>
              </a:rPr>
              <a:t>Kiểm tra lại identity rồi kill + event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FB35007-ADA0-48CA-843B-DA350597C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5048250"/>
            <a:ext cx="247650" cy="4095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F8A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F22F455-DBA5-47C5-BD24-F583D91E9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124450"/>
            <a:ext cx="70485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8A7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5838"/>
          </a:bodyPr>
          <a:lstStyle xmlns:a="http://schemas.openxmlformats.org/drawingml/2006/main">
            <a:def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KHÔNG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50552C3-B62E-4E9E-8D5C-700637415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43550"/>
            <a:ext cx="2143125" cy="6858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4DE"/>
            </a:solidFill>
            <a:prstDash val="solid"/>
          </a:ln>
        </p:spPr>
        <p:txBody>
          <a:bodyPr xmlns:a="http://schemas.openxmlformats.org/drawingml/2006/main">
            <a:normAutofit fontScale="84615"/>
          </a:bodyPr>
          <a:lstStyle xmlns:a="http://schemas.openxmlformats.org/drawingml/2006/main">
            <a:defPPr algn="ctr">
              <a:defRPr sz="975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0354A"/>
                </a:solidFill>
                <a:latin typeface="Arial"/>
                <a:ea typeface="Arial"/>
                <a:cs typeface="Arial"/>
              </a:rPr>
              <a:t>Allowlist mode và hash chưa allow?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FEA1D7A-A629-4297-B7AD-DC0B88493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762625"/>
            <a:ext cx="952500" cy="2381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94D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2704E2A-05A4-48DD-96A9-5E3487707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5476875"/>
            <a:ext cx="4953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94D5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5838"/>
          </a:bodyPr>
          <a:lstStyle xmlns:a="http://schemas.openxmlformats.org/drawingml/2006/main">
            <a:def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CÓ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95E4BF9-402D-4A8A-85EA-F5933DCCB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5534025"/>
            <a:ext cx="1952625" cy="714375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0F0"/>
          </a:solidFill>
          <a:ln xmlns:a="http://schemas.openxmlformats.org/drawingml/2006/main" w="9525">
            <a:solidFill>
              <a:srgbClr val="C94D52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A964A09-5E60-4816-BE94-5BD702969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5648325"/>
            <a:ext cx="16859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0392"/>
          </a:bodyPr>
          <a:lstStyle xmlns:a="http://schemas.openxmlformats.org/drawingml/2006/main">
            <a:defPPr algn="ctr">
              <a:defRPr sz="1275" b="1">
                <a:solidFill>
                  <a:srgbClr val="C94D5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C94D5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C94D52"/>
                </a:solidFill>
                <a:latin typeface="Arial"/>
                <a:ea typeface="Arial"/>
                <a:cs typeface="Arial"/>
              </a:rPr>
              <a:t>BLOCK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B9AC792-8567-4FAB-9BB0-A35AB3AB6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5943600"/>
            <a:ext cx="16859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6465"/>
          </a:bodyPr>
          <a:lstStyle xmlns:a="http://schemas.openxmlformats.org/drawingml/2006/main">
            <a:defPPr algn="ctr">
              <a:defRPr sz="975" b="0">
                <a:solidFill>
                  <a:srgbClr val="5C706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75" b="0">
                <a:solidFill>
                  <a:srgbClr val="5C706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C706A"/>
                </a:solidFill>
                <a:latin typeface="Arial"/>
                <a:ea typeface="Arial"/>
                <a:cs typeface="Arial"/>
              </a:rPr>
              <a:t>Ứng dụng không nằm trong danh sách cho phép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C7C58EA-6DBB-40A3-88FF-A6596B2BF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5762625"/>
            <a:ext cx="762000" cy="2381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F8A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716EB19-4A0B-47D0-95D9-752E33A08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5476875"/>
            <a:ext cx="70485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8A7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5838"/>
          </a:bodyPr>
          <a:lstStyle xmlns:a="http://schemas.openxmlformats.org/drawingml/2006/main">
            <a:def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KHÔNG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6D1BA95-F553-408F-BBCD-B531BAACF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5362575"/>
            <a:ext cx="2190750" cy="885825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9F5F0"/>
          </a:solidFill>
          <a:ln xmlns:a="http://schemas.openxmlformats.org/drawingml/2006/main" w="9525">
            <a:solidFill>
              <a:srgbClr val="1F8A70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DDD799F-E860-4EFC-BB27-93428863D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5476875"/>
            <a:ext cx="1924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0392"/>
          </a:bodyPr>
          <a:lstStyle xmlns:a="http://schemas.openxmlformats.org/drawingml/2006/main">
            <a:defPPr algn="ctr">
              <a:defRPr sz="1275" b="1">
                <a:solidFill>
                  <a:srgbClr val="1F8A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1F8A7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F8A70"/>
                </a:solidFill>
                <a:latin typeface="Arial"/>
                <a:ea typeface="Arial"/>
                <a:cs typeface="Arial"/>
              </a:rPr>
              <a:t>ALLOW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34AEE2C-048A-44F8-8C71-0CC4D9D89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5772150"/>
            <a:ext cx="19240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ctr">
              <a:defRPr sz="975" b="0">
                <a:solidFill>
                  <a:srgbClr val="5C706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75" b="0">
                <a:solidFill>
                  <a:srgbClr val="5C706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C706A"/>
                </a:solidFill>
                <a:latin typeface="Arial"/>
                <a:ea typeface="Arial"/>
                <a:cs typeface="Arial"/>
              </a:rPr>
              <a:t>Ghi app_start/app_stop để tính thời lượng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E3BC106-8246-43B9-8BFF-0E022E6EB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0225" y="3028950"/>
            <a:ext cx="1952625" cy="17526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10354A"/>
          </a:solidFill>
          <a:ln xmlns:a="http://schemas.openxmlformats.org/drawingml/2006/main" w="9525">
            <a:solidFill>
              <a:srgbClr val="10354A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5B292A8-328E-483C-AE64-DB1CC850D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3575" y="3143250"/>
            <a:ext cx="16859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1930"/>
          </a:bodyPr>
          <a:lstStyle xmlns:a="http://schemas.openxmlformats.org/drawingml/2006/main">
            <a:def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Vì sao dùng hash?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1512EA8-6645-479D-B0D1-1DC76F4D8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3575" y="3438525"/>
            <a:ext cx="1685925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050" b="0">
                <a:solidFill>
                  <a:srgbClr val="D7E8E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D7E8E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D7E8E2"/>
                </a:solidFill>
                <a:latin typeface="Arial"/>
                <a:ea typeface="Arial"/>
                <a:cs typeface="Arial"/>
              </a:rPr>
              <a:t>Đổi tên game.exe thành explorer.exe không làm thay đổi hash.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050" b="0">
                <a:solidFill>
                  <a:srgbClr val="D7E8E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D7E8E2"/>
                </a:solidFill>
                <a:latin typeface="Arial"/>
                <a:ea typeface="Arial"/>
                <a:cs typeface="Arial"/>
              </a:rPr>
              <a:t>Phiên bản ứng dụng mới có hash khác, nên phụ huynh phải xem lại rule.</a:t>
            </a:r>
          </a:p>
        </p:txBody>
      </p:sp>
    </p:spTree>
    <p:extLst>
      <p:ext uri="{BB962C8B-B14F-4D97-AF65-F5344CB8AC3E}">
        <p14:creationId xmlns:p14="http://schemas.microsoft.com/office/powerpoint/2010/main" val="35549905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2727DF2-C901-4282-B768-15EBCC603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8A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0A470D-6F38-44DE-8604-DBFBDECCD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57175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>
            <a:defPPr algn="l">
              <a:defRPr sz="825" b="1">
                <a:solidFill>
                  <a:srgbClr val="1F8A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825" b="1">
                <a:solidFill>
                  <a:srgbClr val="1F8A7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F8A70"/>
                </a:solidFill>
                <a:latin typeface="Arial"/>
                <a:ea typeface="Arial"/>
                <a:cs typeface="Arial"/>
              </a:rPr>
              <a:t>OPEN GUARD KIDS · TUẦN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3BE654-67C6-48CD-B0B9-1215C08A5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42925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9020"/>
          </a:bodyPr>
          <a:lstStyle xmlns:a="http://schemas.openxmlformats.org/drawingml/2006/main">
            <a:defPPr algn="l">
              <a:defRPr sz="2550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354A"/>
                </a:solidFill>
                <a:latin typeface="Arial"/>
                <a:ea typeface="Arial"/>
                <a:cs typeface="Arial"/>
              </a:rPr>
              <a:t>Luồng kích hoạt DNS proxy trên Windows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06850D-B40D-4DF1-A44E-EF52BE5B4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26670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>
            <a:defPPr algn="r">
              <a:defRPr sz="825" b="1">
                <a:solidFill>
                  <a:srgbClr val="1F8A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825" b="1">
                <a:solidFill>
                  <a:srgbClr val="1F8A7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F8A70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C20123-1441-4CCA-B8D0-B63F20D00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123950"/>
            <a:ext cx="11144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4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CD4549-6227-41C9-A05A-5A548AC6C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276350"/>
            <a:ext cx="10668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5C706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C706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C706A"/>
                </a:solidFill>
                <a:latin typeface="Arial"/>
                <a:ea typeface="Arial"/>
                <a:cs typeface="Arial"/>
              </a:rPr>
              <a:t>Service chỉ đổi DNS sau khi proxy UDP và TCP đã bind thành công trên IPv4 và IPv6 loopback.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05D79A-4069-4AA4-84CB-58F6FA0F6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924050"/>
            <a:ext cx="285750" cy="238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8A7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5823"/>
          </a:bodyPr>
          <a:lstStyle xmlns:a="http://schemas.openxmlformats.org/drawingml/2006/main">
            <a:def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47E494-0427-43BC-BB21-BD7DF74E3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305050"/>
            <a:ext cx="1790700" cy="156210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4D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25439A-6B54-4B66-BF60-7FAF3D245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2419350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0392"/>
          </a:bodyPr>
          <a:lstStyle xmlns:a="http://schemas.openxmlformats.org/drawingml/2006/main">
            <a:defPPr algn="ctr">
              <a:defRPr sz="1275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354A"/>
                </a:solidFill>
                <a:latin typeface="Arial"/>
                <a:ea typeface="Arial"/>
                <a:cs typeface="Arial"/>
              </a:rPr>
              <a:t>Đủ điều kiện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037D79-5825-4B35-B769-1ECF76D51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2714625"/>
            <a:ext cx="1524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ctr">
              <a:defRPr sz="975" b="0">
                <a:solidFill>
                  <a:srgbClr val="5C706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75" b="0">
                <a:solidFill>
                  <a:srgbClr val="5C706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C706A"/>
                </a:solidFill>
                <a:latin typeface="Arial"/>
                <a:ea typeface="Arial"/>
                <a:cs typeface="Arial"/>
              </a:rPr>
              <a:t>Trẻ đăng nhập</a:t>
            </a:r>
          </a:p>
          <a:p xmlns:a="http://schemas.openxmlformats.org/drawingml/2006/main">
            <a:pPr algn="ctr">
              <a:defRPr sz="975" b="0">
                <a:solidFill>
                  <a:srgbClr val="5C706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C706A"/>
                </a:solidFill>
                <a:latin typeface="Arial"/>
                <a:ea typeface="Arial"/>
                <a:cs typeface="Arial"/>
              </a:rPr>
              <a:t>Tray heartbeat</a:t>
            </a:r>
          </a:p>
          <a:p xmlns:a="http://schemas.openxmlformats.org/drawingml/2006/main">
            <a:pPr algn="ctr">
              <a:defRPr sz="975" b="0">
                <a:solidFill>
                  <a:srgbClr val="5C706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C706A"/>
                </a:solidFill>
                <a:latin typeface="Arial"/>
                <a:ea typeface="Arial"/>
                <a:cs typeface="Arial"/>
              </a:rPr>
              <a:t>DNS proxy bật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C79705-7C31-4A03-A6E8-2CBBA58B2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675" y="2952750"/>
            <a:ext cx="4000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0D3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7693C0-CEBC-477A-9EDB-B5E0DB82F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1924050"/>
            <a:ext cx="285750" cy="238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8A7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5823"/>
          </a:bodyPr>
          <a:lstStyle xmlns:a="http://schemas.openxmlformats.org/drawingml/2006/main">
            <a:def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155B4F5-6C2E-4522-9D0F-478A77F7F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2305050"/>
            <a:ext cx="1790700" cy="156210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4D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C170143-7B74-4F21-9D00-9249C3D3B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2419350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0392"/>
          </a:bodyPr>
          <a:lstStyle xmlns:a="http://schemas.openxmlformats.org/drawingml/2006/main">
            <a:defPPr algn="ctr">
              <a:defRPr sz="1275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354A"/>
                </a:solidFill>
                <a:latin typeface="Arial"/>
                <a:ea typeface="Arial"/>
                <a:cs typeface="Arial"/>
              </a:rPr>
              <a:t>Khởi động proxy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279627A-15E1-4FEF-9485-A196B1851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2714625"/>
            <a:ext cx="1524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ctr">
              <a:defRPr sz="975" b="0">
                <a:solidFill>
                  <a:srgbClr val="5C706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75" b="0">
                <a:solidFill>
                  <a:srgbClr val="5C706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C706A"/>
                </a:solidFill>
                <a:latin typeface="Arial"/>
                <a:ea typeface="Arial"/>
                <a:cs typeface="Arial"/>
              </a:rPr>
              <a:t>127.0.0.1:53</a:t>
            </a:r>
          </a:p>
          <a:p xmlns:a="http://schemas.openxmlformats.org/drawingml/2006/main">
            <a:pPr algn="ctr">
              <a:defRPr sz="975" b="0">
                <a:solidFill>
                  <a:srgbClr val="5C706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C706A"/>
                </a:solidFill>
                <a:latin typeface="Arial"/>
                <a:ea typeface="Arial"/>
                <a:cs typeface="Arial"/>
              </a:rPr>
              <a:t>[::1]:53</a:t>
            </a:r>
          </a:p>
          <a:p xmlns:a="http://schemas.openxmlformats.org/drawingml/2006/main">
            <a:pPr algn="ctr">
              <a:defRPr sz="975" b="0">
                <a:solidFill>
                  <a:srgbClr val="5C706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C706A"/>
                </a:solidFill>
                <a:latin typeface="Arial"/>
                <a:ea typeface="Arial"/>
                <a:cs typeface="Arial"/>
              </a:rPr>
              <a:t>UDP + TCP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92CE082-9D17-4C1E-8A16-252F6DD1E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2952750"/>
            <a:ext cx="4000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0D3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DD01451-C951-4AE1-A2E0-D520ACABC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1924050"/>
            <a:ext cx="285750" cy="238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8A7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5823"/>
          </a:bodyPr>
          <a:lstStyle xmlns:a="http://schemas.openxmlformats.org/drawingml/2006/main">
            <a:def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A93A6B4-F2F1-4950-BE84-F7782531E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2305050"/>
            <a:ext cx="1790700" cy="156210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FFF3DE"/>
          </a:solidFill>
          <a:ln xmlns:a="http://schemas.openxmlformats.org/drawingml/2006/main" w="9525">
            <a:solidFill>
              <a:srgbClr val="E8A13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CF93505-48CB-4A91-A3AF-B134A3246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9225" y="2419350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0392"/>
          </a:bodyPr>
          <a:lstStyle xmlns:a="http://schemas.openxmlformats.org/drawingml/2006/main">
            <a:defPPr algn="ctr">
              <a:defRPr sz="1275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354A"/>
                </a:solidFill>
                <a:latin typeface="Arial"/>
                <a:ea typeface="Arial"/>
                <a:cs typeface="Arial"/>
              </a:rPr>
              <a:t>Sao lưu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DF65F65-7260-406E-8B5C-98CEA8B3A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9225" y="2714625"/>
            <a:ext cx="1524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ctr">
              <a:defRPr sz="975" b="0">
                <a:solidFill>
                  <a:srgbClr val="5C706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75" b="0">
                <a:solidFill>
                  <a:srgbClr val="5C706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C706A"/>
                </a:solidFill>
                <a:latin typeface="Arial"/>
                <a:ea typeface="Arial"/>
                <a:cs typeface="Arial"/>
              </a:rPr>
              <a:t>DNS từng adapter</a:t>
            </a:r>
          </a:p>
          <a:p xmlns:a="http://schemas.openxmlformats.org/drawingml/2006/main">
            <a:pPr algn="ctr">
              <a:defRPr sz="975" b="0">
                <a:solidFill>
                  <a:srgbClr val="5C706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C706A"/>
                </a:solidFill>
                <a:latin typeface="Arial"/>
                <a:ea typeface="Arial"/>
                <a:cs typeface="Arial"/>
              </a:rPr>
              <a:t>Chrome/Edge/Firefox</a:t>
            </a:r>
          </a:p>
          <a:p xmlns:a="http://schemas.openxmlformats.org/drawingml/2006/main">
            <a:pPr algn="ctr">
              <a:defRPr sz="975" b="0">
                <a:solidFill>
                  <a:srgbClr val="5C706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C706A"/>
                </a:solidFill>
                <a:latin typeface="Arial"/>
                <a:ea typeface="Arial"/>
                <a:cs typeface="Arial"/>
              </a:rPr>
              <a:t>Secure DNS policy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3DD94C6-69A1-4F8D-B488-FCAFB4898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2952750"/>
            <a:ext cx="4000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0D3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BFAE241-B901-4036-9993-6B3E882F2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1924050"/>
            <a:ext cx="285750" cy="238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A536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5823"/>
          </a:bodyPr>
          <a:lstStyle xmlns:a="http://schemas.openxmlformats.org/drawingml/2006/main">
            <a:def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628273D-98B3-48FD-B6BD-8C45A6366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305050"/>
            <a:ext cx="1790700" cy="156210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4DE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0A7089C-A0F4-48A4-9936-41031CEC9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5225" y="2419350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0392"/>
          </a:bodyPr>
          <a:lstStyle xmlns:a="http://schemas.openxmlformats.org/drawingml/2006/main">
            <a:defPPr algn="ctr">
              <a:defRPr sz="1275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354A"/>
                </a:solidFill>
                <a:latin typeface="Arial"/>
                <a:ea typeface="Arial"/>
                <a:cs typeface="Arial"/>
              </a:rPr>
              <a:t>Cấu hình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EEB337E-A9C0-4B0F-9600-657AC6A40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5225" y="2714625"/>
            <a:ext cx="1524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ctr">
              <a:defRPr sz="975" b="0">
                <a:solidFill>
                  <a:srgbClr val="5C706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75" b="0">
                <a:solidFill>
                  <a:srgbClr val="5C706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C706A"/>
                </a:solidFill>
                <a:latin typeface="Arial"/>
                <a:ea typeface="Arial"/>
                <a:cs typeface="Arial"/>
              </a:rPr>
              <a:t>DNS máy về loopback</a:t>
            </a:r>
          </a:p>
          <a:p xmlns:a="http://schemas.openxmlformats.org/drawingml/2006/main">
            <a:pPr algn="ctr">
              <a:defRPr sz="975" b="0">
                <a:solidFill>
                  <a:srgbClr val="5C706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C706A"/>
                </a:solidFill>
                <a:latin typeface="Arial"/>
                <a:ea typeface="Arial"/>
                <a:cs typeface="Arial"/>
              </a:rPr>
              <a:t>Tắt DoH trình duyệt</a:t>
            </a:r>
          </a:p>
          <a:p xmlns:a="http://schemas.openxmlformats.org/drawingml/2006/main">
            <a:pPr algn="ctr">
              <a:defRPr sz="975" b="0">
                <a:solidFill>
                  <a:srgbClr val="5C706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C706A"/>
                </a:solidFill>
                <a:latin typeface="Arial"/>
                <a:ea typeface="Arial"/>
                <a:cs typeface="Arial"/>
              </a:rPr>
              <a:t>được hỗ trợ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B5F3527-313B-4FFE-8957-CE5A8C44D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2952750"/>
            <a:ext cx="4000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0D3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C198D56-1902-479F-A96E-97C2EFB06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1924050"/>
            <a:ext cx="285750" cy="238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8A7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5823"/>
          </a:bodyPr>
          <a:lstStyle xmlns:a="http://schemas.openxmlformats.org/drawingml/2006/main">
            <a:def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5E5E82A-702F-48F6-82F1-2002F1ADE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2305050"/>
            <a:ext cx="1790700" cy="156210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4DE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CF498B4-E5C6-4E7D-8E27-5F91D51C4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1225" y="2419350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0392"/>
          </a:bodyPr>
          <a:lstStyle xmlns:a="http://schemas.openxmlformats.org/drawingml/2006/main">
            <a:defPPr algn="ctr">
              <a:defRPr sz="1275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354A"/>
                </a:solidFill>
                <a:latin typeface="Arial"/>
                <a:ea typeface="Arial"/>
                <a:cs typeface="Arial"/>
              </a:rPr>
              <a:t>Theo dõi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2E9A48D-328B-4536-802E-966062A1F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1225" y="2714625"/>
            <a:ext cx="1524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ctr">
              <a:defRPr sz="975" b="0">
                <a:solidFill>
                  <a:srgbClr val="5C706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75" b="0">
                <a:solidFill>
                  <a:srgbClr val="5C706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C706A"/>
                </a:solidFill>
                <a:latin typeface="Arial"/>
                <a:ea typeface="Arial"/>
                <a:cs typeface="Arial"/>
              </a:rPr>
              <a:t>Kiểm tra lại mỗi 10 giây</a:t>
            </a:r>
          </a:p>
          <a:p xmlns:a="http://schemas.openxmlformats.org/drawingml/2006/main">
            <a:pPr algn="ctr">
              <a:defRPr sz="975" b="0">
                <a:solidFill>
                  <a:srgbClr val="5C706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C706A"/>
                </a:solidFill>
                <a:latin typeface="Arial"/>
                <a:ea typeface="Arial"/>
                <a:cs typeface="Arial"/>
              </a:rPr>
              <a:t>và bắt adapter mới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B2EE9DF-71B7-4063-9A7C-C0EEA7CEA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581525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>
            <a:defPPr algn="ctr">
              <a:defRPr sz="1350" b="1">
                <a:solidFill>
                  <a:srgbClr val="C94D5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C94D52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C94D52"/>
                </a:solidFill>
                <a:latin typeface="Arial"/>
                <a:ea typeface="Arial"/>
                <a:cs typeface="Arial"/>
              </a:rPr>
              <a:t>Tắt bảo vệ / đăng xuất / dừng service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26287FF-2453-4009-82F9-DA942416E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4619625"/>
            <a:ext cx="9906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94D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1098170-DF4F-4CFD-B783-2A5040441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343400"/>
            <a:ext cx="3048000" cy="828675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0F0"/>
          </a:solidFill>
          <a:ln xmlns:a="http://schemas.openxmlformats.org/drawingml/2006/main" w="9525">
            <a:solidFill>
              <a:srgbClr val="C94D52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B4E948A-DE73-44E7-8838-5277AEC43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4457700"/>
            <a:ext cx="2781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5926"/>
          </a:bodyPr>
          <a:lstStyle xmlns:a="http://schemas.openxmlformats.org/drawingml/2006/main">
            <a:defPPr algn="ctr">
              <a:defRPr sz="1350" b="1">
                <a:solidFill>
                  <a:srgbClr val="C94D5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C94D52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C94D52"/>
                </a:solidFill>
                <a:latin typeface="Arial"/>
                <a:ea typeface="Arial"/>
                <a:cs typeface="Arial"/>
              </a:rPr>
              <a:t>Khôi phục cấu hình gốc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FC2BB32-FF5E-4613-8829-6D461727E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4752975"/>
            <a:ext cx="2781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1410"/>
          </a:bodyPr>
          <a:lstStyle xmlns:a="http://schemas.openxmlformats.org/drawingml/2006/main">
            <a:defPPr algn="ctr">
              <a:defRPr sz="975" b="0">
                <a:solidFill>
                  <a:srgbClr val="8B45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75" b="0">
                <a:solidFill>
                  <a:srgbClr val="8B454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8B4548"/>
                </a:solidFill>
                <a:latin typeface="Arial"/>
                <a:ea typeface="Arial"/>
                <a:cs typeface="Arial"/>
              </a:rPr>
              <a:t>DNS tĩnh hoặc DHCP và browser policy cũ từ network-backup.json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D1A38CC-3D05-465B-8359-EDDD81837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686425"/>
            <a:ext cx="108394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9F5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F17ACFE-2360-4EF5-A5D1-942BFA4EE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829300"/>
            <a:ext cx="103346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ctr">
              <a:defRPr sz="1125" b="1">
                <a:solidFill>
                  <a:srgbClr val="1F8A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25" b="1">
                <a:solidFill>
                  <a:srgbClr val="1F8A7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F8A70"/>
                </a:solidFill>
                <a:latin typeface="Arial"/>
                <a:ea typeface="Arial"/>
                <a:cs typeface="Arial"/>
              </a:rPr>
              <a:t>Nếu cấu hình lỗi, Service cố gắng rollback và giữ backup để thử khôi phục lại. Cleanup từ chối xóa runtime khi DNS chưa phục hồi an toàn.</a:t>
            </a:r>
          </a:p>
        </p:txBody>
      </p:sp>
    </p:spTree>
    <p:extLst>
      <p:ext uri="{BB962C8B-B14F-4D97-AF65-F5344CB8AC3E}">
        <p14:creationId xmlns:p14="http://schemas.microsoft.com/office/powerpoint/2010/main" val="125092799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2B0D5E8-3CF9-4F14-9907-0505AB64C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8A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1E873D-4ECB-4BF2-BDAC-9C6F11DAD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57175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>
            <a:defPPr algn="l">
              <a:defRPr sz="825" b="1">
                <a:solidFill>
                  <a:srgbClr val="1F8A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825" b="1">
                <a:solidFill>
                  <a:srgbClr val="1F8A7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F8A70"/>
                </a:solidFill>
                <a:latin typeface="Arial"/>
                <a:ea typeface="Arial"/>
                <a:cs typeface="Arial"/>
              </a:rPr>
              <a:t>OPEN GUARD KIDS · TUẦN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ED8EE2-B3E1-4993-B3C4-C75F3C5ED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42925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9020"/>
          </a:bodyPr>
          <a:lstStyle xmlns:a="http://schemas.openxmlformats.org/drawingml/2006/main">
            <a:defPPr algn="l">
              <a:defRPr sz="2550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354A"/>
                </a:solidFill>
                <a:latin typeface="Arial"/>
                <a:ea typeface="Arial"/>
                <a:cs typeface="Arial"/>
              </a:rPr>
              <a:t>Luồng chặn website qua DNS proxy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7D65E1-03AE-4437-9A57-8E8827E58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26670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>
            <a:defPPr algn="r">
              <a:defRPr sz="825" b="1">
                <a:solidFill>
                  <a:srgbClr val="1F8A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825" b="1">
                <a:solidFill>
                  <a:srgbClr val="1F8A7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F8A70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8338D9-75CE-4430-8D54-C9F365E67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123950"/>
            <a:ext cx="11144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4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7802D8-CAB1-4232-AE5B-8F04385B9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276350"/>
            <a:ext cx="10668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5C706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C706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C706A"/>
                </a:solidFill>
                <a:latin typeface="Arial"/>
                <a:ea typeface="Arial"/>
                <a:cs typeface="Arial"/>
              </a:rPr>
              <a:t>Proxy trả NXDOMAIN khi rule quyết định chặn; trình duyệt không nhận được IP của website.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E4D5AC-AFAB-41B5-8716-5758814B2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657350"/>
            <a:ext cx="175260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4D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6E5BE0-8D22-4F38-BB40-D832345C5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71650"/>
            <a:ext cx="1485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417"/>
          </a:bodyPr>
          <a:lstStyle xmlns:a="http://schemas.openxmlformats.org/drawingml/2006/main">
            <a:defPPr algn="ctr">
              <a:defRPr sz="1200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354A"/>
                </a:solidFill>
                <a:latin typeface="Arial"/>
                <a:ea typeface="Arial"/>
                <a:cs typeface="Arial"/>
              </a:rPr>
              <a:t>Trình duyệt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EAC787-982B-4950-9A95-26A4630DF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66925"/>
            <a:ext cx="1485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8485"/>
          </a:bodyPr>
          <a:lstStyle xmlns:a="http://schemas.openxmlformats.org/drawingml/2006/main">
            <a:defPPr algn="ctr">
              <a:defRPr sz="825" b="0">
                <a:solidFill>
                  <a:srgbClr val="5C706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825" b="0">
                <a:solidFill>
                  <a:srgbClr val="5C706A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C706A"/>
                </a:solidFill>
                <a:latin typeface="Arial"/>
                <a:ea typeface="Arial"/>
                <a:cs typeface="Arial"/>
              </a:rPr>
              <a:t>Chrome / Edge / Firefox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2615F5-2D67-4D05-8560-3B3BF48D4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2305050"/>
            <a:ext cx="19050" cy="385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4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61CB49-D63A-429A-BEBB-3E92E6107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1657350"/>
            <a:ext cx="175260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4D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9A676A-F1FF-4D92-8E88-328F65B33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1771650"/>
            <a:ext cx="1485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417"/>
          </a:bodyPr>
          <a:lstStyle xmlns:a="http://schemas.openxmlformats.org/drawingml/2006/main">
            <a:defPPr algn="ctr">
              <a:defRPr sz="1200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354A"/>
                </a:solidFill>
                <a:latin typeface="Arial"/>
                <a:ea typeface="Arial"/>
                <a:cs typeface="Arial"/>
              </a:rPr>
              <a:t>Windows DNS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CBA8FC1-2887-4A68-94EC-15C7491D0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066925"/>
            <a:ext cx="1485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8485"/>
          </a:bodyPr>
          <a:lstStyle xmlns:a="http://schemas.openxmlformats.org/drawingml/2006/main">
            <a:defPPr algn="ctr">
              <a:defRPr sz="825" b="0">
                <a:solidFill>
                  <a:srgbClr val="5C706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825" b="0">
                <a:solidFill>
                  <a:srgbClr val="5C706A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C706A"/>
                </a:solidFill>
                <a:latin typeface="Arial"/>
                <a:ea typeface="Arial"/>
                <a:cs typeface="Arial"/>
              </a:rPr>
              <a:t>adapter dùng loopback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B00C0F-B49D-4154-A1FB-4EC8891A7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2305050"/>
            <a:ext cx="19050" cy="385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4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0C55155-2B31-4F2D-AA56-81618B6AA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1657350"/>
            <a:ext cx="175260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4D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A85A4F9-E7BD-457F-AD7A-86304ED9E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1771650"/>
            <a:ext cx="1485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417"/>
          </a:bodyPr>
          <a:lstStyle xmlns:a="http://schemas.openxmlformats.org/drawingml/2006/main">
            <a:defPPr algn="ctr">
              <a:defRPr sz="1200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354A"/>
                </a:solidFill>
                <a:latin typeface="Arial"/>
                <a:ea typeface="Arial"/>
                <a:cs typeface="Arial"/>
              </a:rPr>
              <a:t>DNS Proxy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F9485DD-A3A8-4DCD-87BC-96BA21B83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066925"/>
            <a:ext cx="1485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8485"/>
          </a:bodyPr>
          <a:lstStyle xmlns:a="http://schemas.openxmlformats.org/drawingml/2006/main">
            <a:defPPr algn="ctr">
              <a:defRPr sz="825" b="0">
                <a:solidFill>
                  <a:srgbClr val="5C706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825" b="0">
                <a:solidFill>
                  <a:srgbClr val="5C706A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C706A"/>
                </a:solidFill>
                <a:latin typeface="Arial"/>
                <a:ea typeface="Arial"/>
                <a:cs typeface="Arial"/>
              </a:rPr>
              <a:t>127.0.0.1:53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1443065-6CFA-454F-A9EE-B35AA8B26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1225" y="2305050"/>
            <a:ext cx="19050" cy="385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4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2638326-F8AD-438C-800C-2242EFD9D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1657350"/>
            <a:ext cx="175260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4D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5851D4A-EC69-41E5-B3AD-BCFD06D5C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1771650"/>
            <a:ext cx="1485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417"/>
          </a:bodyPr>
          <a:lstStyle xmlns:a="http://schemas.openxmlformats.org/drawingml/2006/main">
            <a:defPPr algn="ctr">
              <a:defRPr sz="1200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354A"/>
                </a:solidFill>
                <a:latin typeface="Arial"/>
                <a:ea typeface="Arial"/>
                <a:cs typeface="Arial"/>
              </a:rPr>
              <a:t>Upstream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935D3F4-FDFE-4F51-9C2B-2BA43886F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066925"/>
            <a:ext cx="1485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8485"/>
          </a:bodyPr>
          <a:lstStyle xmlns:a="http://schemas.openxmlformats.org/drawingml/2006/main">
            <a:defPPr algn="ctr">
              <a:defRPr sz="825" b="0">
                <a:solidFill>
                  <a:srgbClr val="5C706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825" b="0">
                <a:solidFill>
                  <a:srgbClr val="5C706A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C706A"/>
                </a:solidFill>
                <a:latin typeface="Arial"/>
                <a:ea typeface="Arial"/>
                <a:cs typeface="Arial"/>
              </a:rPr>
              <a:t>1.1.1.1 mặc định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CB12375-964B-41E8-A682-52A6BD60E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305050"/>
            <a:ext cx="19050" cy="385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4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9E8B698-0841-4515-AAE0-E55EF1900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1657350"/>
            <a:ext cx="175260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4DE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6E1FA45-1626-42EF-8EB7-6A4687621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1771650"/>
            <a:ext cx="1485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417"/>
          </a:bodyPr>
          <a:lstStyle xmlns:a="http://schemas.openxmlformats.org/drawingml/2006/main">
            <a:defPPr algn="ctr">
              <a:defRPr sz="1200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354A"/>
                </a:solidFill>
                <a:latin typeface="Arial"/>
                <a:ea typeface="Arial"/>
                <a:cs typeface="Arial"/>
              </a:rPr>
              <a:t>Event / Tray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8ACE924-EA61-4A73-B469-3E36E018D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2066925"/>
            <a:ext cx="1485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8485"/>
          </a:bodyPr>
          <a:lstStyle xmlns:a="http://schemas.openxmlformats.org/drawingml/2006/main">
            <a:defPPr algn="ctr">
              <a:defRPr sz="825" b="0">
                <a:solidFill>
                  <a:srgbClr val="5C706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825" b="0">
                <a:solidFill>
                  <a:srgbClr val="5C706A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C706A"/>
                </a:solidFill>
                <a:latin typeface="Arial"/>
                <a:ea typeface="Arial"/>
                <a:cs typeface="Arial"/>
              </a:rPr>
              <a:t>SQLite outbox + popup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49ACE2B-E3F3-4F08-A104-21670C965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77525" y="2305050"/>
            <a:ext cx="19050" cy="385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4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1D6B8CD-AE3E-4918-87D5-295AB4AAC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667000"/>
            <a:ext cx="23431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F8A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B8C3640-D038-468A-BA21-A77D98757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447925"/>
            <a:ext cx="257175" cy="238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8A7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>
            <a:def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B8932DD-0751-4A40-8D0D-F72FDEB86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075" y="2438400"/>
            <a:ext cx="19335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0354A"/>
                </a:solidFill>
                <a:latin typeface="Arial"/>
                <a:ea typeface="Arial"/>
                <a:cs typeface="Arial"/>
              </a:rPr>
              <a:t>Query A / AAAA / CNAME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B11E1F4-F1A7-4407-92B2-A5EAFD633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352800"/>
            <a:ext cx="23431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F8A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31522D5-6F77-41C1-BF23-C8421DCE0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133725"/>
            <a:ext cx="257175" cy="238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8A7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>
            <a:def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7DB653B-F0DF-4398-BE70-E20685C62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3124200"/>
            <a:ext cx="19335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0354A"/>
                </a:solidFill>
                <a:latin typeface="Arial"/>
                <a:ea typeface="Arial"/>
                <a:cs typeface="Arial"/>
              </a:rPr>
              <a:t>Chuyển query về loopback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FDBD852-1983-4D2B-833E-36136E58B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038600"/>
            <a:ext cx="46863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A53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9E87C03-F151-4F8A-94A9-2A105BF78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819525"/>
            <a:ext cx="257175" cy="238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A536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>
            <a:def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423BBE5-51E3-4B17-9EF5-D3788083E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810000"/>
            <a:ext cx="42767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0354A"/>
                </a:solidFill>
                <a:latin typeface="Arial"/>
                <a:ea typeface="Arial"/>
                <a:cs typeface="Arial"/>
              </a:rPr>
              <a:t>domain_query, gộp trong 5 giây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E7455B6-1037-43CF-826F-41917181D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743450"/>
            <a:ext cx="4686300" cy="19050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C94D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06908E0-A53D-4231-A605-913CB7C34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524375"/>
            <a:ext cx="257175" cy="238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94D5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>
            <a:def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988CCF3-53A3-4B89-A4EF-86FC47B7E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075" y="4514850"/>
            <a:ext cx="42767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0354A"/>
                </a:solidFill>
                <a:latin typeface="Arial"/>
                <a:ea typeface="Arial"/>
                <a:cs typeface="Arial"/>
              </a:rPr>
              <a:t>Nếu BLOCK: trả NXDOMAIN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DF299C7-68A3-47A5-8A7D-224BE64E7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429250"/>
            <a:ext cx="46863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94D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15BD66E-2432-4D65-899B-955414EF4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5210175"/>
            <a:ext cx="257175" cy="238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94D5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>
            <a:def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1BD7A5D-A3BA-4166-BBC9-27D521051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5200650"/>
            <a:ext cx="42767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0354A"/>
                </a:solidFill>
                <a:latin typeface="Arial"/>
                <a:ea typeface="Arial"/>
                <a:cs typeface="Arial"/>
              </a:rPr>
              <a:t>blocked_domain + reason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16D6EE8-9B8B-407A-9E59-0B8B4FEC9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6038850"/>
            <a:ext cx="23431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F8A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3670B6B-558C-4F27-98A0-93E13896E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5819775"/>
            <a:ext cx="257175" cy="238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8A7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>
            <a:def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DA92AC4-3DF7-451E-B6F4-AEB03BA87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5810250"/>
            <a:ext cx="19335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8590"/>
          </a:bodyPr>
          <a:lstStyle xmlns:a="http://schemas.openxmlformats.org/drawingml/2006/main">
            <a:defPPr algn="ctr">
              <a:defRPr sz="975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0354A"/>
                </a:solidFill>
                <a:latin typeface="Arial"/>
                <a:ea typeface="Arial"/>
                <a:cs typeface="Arial"/>
              </a:rPr>
              <a:t>Nếu ALLOW: hỏi upstream hoặc SafeSearch</a:t>
            </a:r>
          </a:p>
        </p:txBody>
      </p:sp>
    </p:spTree>
    <p:extLst>
      <p:ext uri="{BB962C8B-B14F-4D97-AF65-F5344CB8AC3E}">
        <p14:creationId xmlns:p14="http://schemas.microsoft.com/office/powerpoint/2010/main" val="119468241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C7F78F6-BD4C-40BD-9469-B0066D426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8A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5F5E3B-7E11-461F-96DB-2FEAEC1FB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57175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>
            <a:defPPr algn="l">
              <a:defRPr sz="825" b="1">
                <a:solidFill>
                  <a:srgbClr val="1F8A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825" b="1">
                <a:solidFill>
                  <a:srgbClr val="1F8A7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F8A70"/>
                </a:solidFill>
                <a:latin typeface="Arial"/>
                <a:ea typeface="Arial"/>
                <a:cs typeface="Arial"/>
              </a:rPr>
              <a:t>OPEN GUARD KIDS · TUẦN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129067-15FC-4E27-B699-EEAB85945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42925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9020"/>
          </a:bodyPr>
          <a:lstStyle xmlns:a="http://schemas.openxmlformats.org/drawingml/2006/main">
            <a:defPPr algn="l">
              <a:defRPr sz="2550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354A"/>
                </a:solidFill>
                <a:latin typeface="Arial"/>
                <a:ea typeface="Arial"/>
                <a:cs typeface="Arial"/>
              </a:rPr>
              <a:t>Thứ tự quyết định của DNS proxy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A02131-C863-4F99-8CE7-AA38B55D4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26670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>
            <a:defPPr algn="r">
              <a:defRPr sz="825" b="1">
                <a:solidFill>
                  <a:srgbClr val="1F8A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825" b="1">
                <a:solidFill>
                  <a:srgbClr val="1F8A7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F8A70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FE2CBA-052F-4FFD-9A23-D81B35EBF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123950"/>
            <a:ext cx="11144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4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230CF0-497E-4379-9FC1-83C78CB3F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276350"/>
            <a:ext cx="10668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5C706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C706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C706A"/>
                </a:solidFill>
                <a:latin typeface="Arial"/>
                <a:ea typeface="Arial"/>
                <a:cs typeface="Arial"/>
              </a:rPr>
              <a:t>Thứ tự ưu tiên tránh trường hợp category vô tình chặn miền trường học hoặc hỗ trợ khẩn cấp.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A86D3B-18C9-42B4-8531-5EA841BE9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28800"/>
            <a:ext cx="295275" cy="238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A536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1195"/>
          </a:bodyPr>
          <a:lstStyle xmlns:a="http://schemas.openxmlformats.org/drawingml/2006/main">
            <a:def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51F10D-4B9E-470F-807B-3993A46B3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790700"/>
            <a:ext cx="333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354A"/>
                </a:solidFill>
                <a:latin typeface="Arial"/>
                <a:ea typeface="Arial"/>
                <a:cs typeface="Arial"/>
              </a:rPr>
              <a:t>Policy hoặc DNS proxy đang tắt?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01CB03-813A-4DC7-AE9F-E1FA14BA9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781175"/>
            <a:ext cx="93345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A536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5838"/>
          </a:bodyPr>
          <a:lstStyle xmlns:a="http://schemas.openxmlformats.org/drawingml/2006/main">
            <a:def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FORWARD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92A3D0-468D-4F6E-BBDC-FFED61A2E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209800"/>
            <a:ext cx="409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1667"/>
          </a:bodyPr>
          <a:lstStyle xmlns:a="http://schemas.openxmlformats.org/drawingml/2006/main">
            <a:defPPr algn="l">
              <a:defRPr sz="1050" b="0">
                <a:solidFill>
                  <a:srgbClr val="5C706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C706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C706A"/>
                </a:solidFill>
                <a:latin typeface="Arial"/>
                <a:ea typeface="Arial"/>
                <a:cs typeface="Arial"/>
              </a:rPr>
              <a:t>Không áp dụng rule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0BD6C3-C358-4C0A-BD95-3AF17BFB8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619375"/>
            <a:ext cx="4619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4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3E64DB-D290-41F5-8EF5-8154B4E1B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933700"/>
            <a:ext cx="295275" cy="238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8A7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1195"/>
          </a:bodyPr>
          <a:lstStyle xmlns:a="http://schemas.openxmlformats.org/drawingml/2006/main">
            <a:def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DD88A1B-0E14-4D39-8AB7-0C0DBBCAD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895600"/>
            <a:ext cx="333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354A"/>
                </a:solidFill>
                <a:latin typeface="Arial"/>
                <a:ea typeface="Arial"/>
                <a:cs typeface="Arial"/>
              </a:rPr>
              <a:t>Safety domain hoặc 111.vn?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32F2DA-B10D-4673-94FC-F66811C20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886075"/>
            <a:ext cx="714375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8A7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5838"/>
          </a:bodyPr>
          <a:lstStyle xmlns:a="http://schemas.openxmlformats.org/drawingml/2006/main">
            <a:def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ALLOW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31AC8A5-6DFF-4CB9-8E1E-AEFC08C77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314700"/>
            <a:ext cx="409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1667"/>
          </a:bodyPr>
          <a:lstStyle xmlns:a="http://schemas.openxmlformats.org/drawingml/2006/main">
            <a:defPPr algn="l">
              <a:defRPr sz="1050" b="0">
                <a:solidFill>
                  <a:srgbClr val="5C706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C706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C706A"/>
                </a:solidFill>
                <a:latin typeface="Arial"/>
                <a:ea typeface="Arial"/>
                <a:cs typeface="Arial"/>
              </a:rPr>
              <a:t>Ưu tiên cao nhất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0EC501B-7918-48FC-9023-AEF4B69B0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724275"/>
            <a:ext cx="4619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4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A8E3476-A829-4796-982C-7C5018CF6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38600"/>
            <a:ext cx="295275" cy="238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94D5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1195"/>
          </a:bodyPr>
          <a:lstStyle xmlns:a="http://schemas.openxmlformats.org/drawingml/2006/main">
            <a:def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C9D0FD9-6B95-439C-AB34-15E06DDE9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000500"/>
            <a:ext cx="333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354A"/>
                </a:solidFill>
                <a:latin typeface="Arial"/>
                <a:ea typeface="Arial"/>
                <a:cs typeface="Arial"/>
              </a:rPr>
              <a:t>Khớp domain_block?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255FD42-B1F2-4B7E-B77C-09023BBC0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990975"/>
            <a:ext cx="714375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94D5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5838"/>
          </a:bodyPr>
          <a:lstStyle xmlns:a="http://schemas.openxmlformats.org/drawingml/2006/main">
            <a:def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BLOCK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6211088-9A2B-44B5-B9EC-C223042D7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419600"/>
            <a:ext cx="409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1667"/>
          </a:bodyPr>
          <a:lstStyle xmlns:a="http://schemas.openxmlformats.org/drawingml/2006/main">
            <a:defPPr algn="l">
              <a:defRPr sz="1050" b="0">
                <a:solidFill>
                  <a:srgbClr val="5C706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C706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C706A"/>
                </a:solidFill>
                <a:latin typeface="Arial"/>
                <a:ea typeface="Arial"/>
                <a:cs typeface="Arial"/>
              </a:rPr>
              <a:t>Trả NXDOMAIN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3257711-CC7C-49D1-B4B2-E7EF4A987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829175"/>
            <a:ext cx="4619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4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7AA9F4D-E130-4CFB-807B-AD448C0F5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143500"/>
            <a:ext cx="295275" cy="238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94D5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1195"/>
          </a:bodyPr>
          <a:lstStyle xmlns:a="http://schemas.openxmlformats.org/drawingml/2006/main">
            <a:def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B4941B2-5E62-412D-8784-3A48B9AEB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105400"/>
            <a:ext cx="333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354A"/>
                </a:solidFill>
                <a:latin typeface="Arial"/>
                <a:ea typeface="Arial"/>
                <a:cs typeface="Arial"/>
              </a:rPr>
              <a:t>Allowlist mode nhưng chưa allow?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A9E0816-4085-4303-983D-8CB957170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5095875"/>
            <a:ext cx="714375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94D5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5838"/>
          </a:bodyPr>
          <a:lstStyle xmlns:a="http://schemas.openxmlformats.org/drawingml/2006/main">
            <a:def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BLOCK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9EEA0B4-0711-418F-8900-9C0821B6B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524500"/>
            <a:ext cx="409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1667"/>
          </a:bodyPr>
          <a:lstStyle xmlns:a="http://schemas.openxmlformats.org/drawingml/2006/main">
            <a:defPPr algn="l">
              <a:defRPr sz="1050" b="0">
                <a:solidFill>
                  <a:srgbClr val="5C706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C706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C706A"/>
                </a:solidFill>
                <a:latin typeface="Arial"/>
                <a:ea typeface="Arial"/>
                <a:cs typeface="Arial"/>
              </a:rPr>
              <a:t>Trả NXDOMAIN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9A156F3-5B3D-4D71-B7B8-0E9E7EEEB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28800"/>
            <a:ext cx="295275" cy="238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8A7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1195"/>
          </a:bodyPr>
          <a:lstStyle xmlns:a="http://schemas.openxmlformats.org/drawingml/2006/main">
            <a:def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F45886C-D771-45CE-81C7-52716FCA8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1790700"/>
            <a:ext cx="333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354A"/>
                </a:solidFill>
                <a:latin typeface="Arial"/>
                <a:ea typeface="Arial"/>
                <a:cs typeface="Arial"/>
              </a:rPr>
              <a:t>Khớp domain_allow?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9810532-06DA-43E2-9197-28FBF2E5D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1781175"/>
            <a:ext cx="714375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8A7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5838"/>
          </a:bodyPr>
          <a:lstStyle xmlns:a="http://schemas.openxmlformats.org/drawingml/2006/main">
            <a:def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ALLOW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ADC182F-EB29-4FD3-864E-FB0D405B8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209800"/>
            <a:ext cx="409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1667"/>
          </a:bodyPr>
          <a:lstStyle xmlns:a="http://schemas.openxmlformats.org/drawingml/2006/main">
            <a:defPPr algn="l">
              <a:defRPr sz="1050" b="0">
                <a:solidFill>
                  <a:srgbClr val="5C706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C706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C706A"/>
                </a:solidFill>
                <a:latin typeface="Arial"/>
                <a:ea typeface="Arial"/>
                <a:cs typeface="Arial"/>
              </a:rPr>
              <a:t>Bỏ qua category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D03DAA7-428F-4AAF-89A4-D0A0F6960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619375"/>
            <a:ext cx="4619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4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2755926-F6D4-491A-AD60-CDC0C56C2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933700"/>
            <a:ext cx="295275" cy="238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94D5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1195"/>
          </a:bodyPr>
          <a:lstStyle xmlns:a="http://schemas.openxmlformats.org/drawingml/2006/main">
            <a:def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DC93373-0DF9-4B4D-9B98-EFF7BF8CC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895600"/>
            <a:ext cx="333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354A"/>
                </a:solidFill>
                <a:latin typeface="Arial"/>
                <a:ea typeface="Arial"/>
                <a:cs typeface="Arial"/>
              </a:rPr>
              <a:t>Category action = block?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2ED1551-0618-47DA-882A-D397FF618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2886075"/>
            <a:ext cx="714375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94D5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5838"/>
          </a:bodyPr>
          <a:lstStyle xmlns:a="http://schemas.openxmlformats.org/drawingml/2006/main">
            <a:def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BLOCK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E42EC7F-2FB6-4D98-B50B-4C395D52D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314700"/>
            <a:ext cx="409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1667"/>
          </a:bodyPr>
          <a:lstStyle xmlns:a="http://schemas.openxmlformats.org/drawingml/2006/main">
            <a:defPPr algn="l">
              <a:defRPr sz="1050" b="0">
                <a:solidFill>
                  <a:srgbClr val="5C706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C706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C706A"/>
                </a:solidFill>
                <a:latin typeface="Arial"/>
                <a:ea typeface="Arial"/>
                <a:cs typeface="Arial"/>
              </a:rPr>
              <a:t>Trả NXDOMAIN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2BDD6FB-E6AE-4BAC-B437-FA3811A54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724275"/>
            <a:ext cx="4619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4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C8687F5-DA5B-46DC-B450-4180B3A7A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038600"/>
            <a:ext cx="295275" cy="238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A13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1195"/>
          </a:bodyPr>
          <a:lstStyle xmlns:a="http://schemas.openxmlformats.org/drawingml/2006/main">
            <a:def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0751AE2-EEB9-4FD0-AB03-7528B91FC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000500"/>
            <a:ext cx="333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354A"/>
                </a:solidFill>
                <a:latin typeface="Arial"/>
                <a:ea typeface="Arial"/>
                <a:cs typeface="Arial"/>
              </a:rPr>
              <a:t>Google/Bing + SafeSearch bật?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25417EE-5911-422E-A3B3-5A47DD6BB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3990975"/>
            <a:ext cx="8763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A13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5838"/>
          </a:bodyPr>
          <a:lstStyle xmlns:a="http://schemas.openxmlformats.org/drawingml/2006/main">
            <a:def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REWRITE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D02C081-F4F9-4607-B2DE-F1BDAE784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419600"/>
            <a:ext cx="409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1667"/>
          </a:bodyPr>
          <a:lstStyle xmlns:a="http://schemas.openxmlformats.org/drawingml/2006/main">
            <a:defPPr algn="l">
              <a:defRPr sz="1050" b="0">
                <a:solidFill>
                  <a:srgbClr val="5C706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C706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C706A"/>
                </a:solidFill>
                <a:latin typeface="Arial"/>
                <a:ea typeface="Arial"/>
                <a:cs typeface="Arial"/>
              </a:rPr>
              <a:t>CNAME tới safe endpoint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3317101-DE01-4F6D-A676-53CADF560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829175"/>
            <a:ext cx="4619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4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DD7E658-4263-456B-A2CC-D72C3732C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43500"/>
            <a:ext cx="295275" cy="238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A536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1195"/>
          </a:bodyPr>
          <a:lstStyle xmlns:a="http://schemas.openxmlformats.org/drawingml/2006/main">
            <a:def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799AA0A-AF99-46AD-8A9D-491E211B2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5105400"/>
            <a:ext cx="333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354A"/>
                </a:solidFill>
                <a:latin typeface="Arial"/>
                <a:ea typeface="Arial"/>
                <a:cs typeface="Arial"/>
              </a:rPr>
              <a:t>Còn lại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9811258-A2A6-4EDC-A4D5-3A1F211F4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5095875"/>
            <a:ext cx="93345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A536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5838"/>
          </a:bodyPr>
          <a:lstStyle xmlns:a="http://schemas.openxmlformats.org/drawingml/2006/main">
            <a:def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FORWARD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A9D15A3-0147-4F09-9F00-C2EE271F3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5524500"/>
            <a:ext cx="409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1667"/>
          </a:bodyPr>
          <a:lstStyle xmlns:a="http://schemas.openxmlformats.org/drawingml/2006/main">
            <a:defPPr algn="l">
              <a:defRPr sz="1050" b="0">
                <a:solidFill>
                  <a:srgbClr val="5C706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C706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C706A"/>
                </a:solidFill>
                <a:latin typeface="Arial"/>
                <a:ea typeface="Arial"/>
                <a:cs typeface="Arial"/>
              </a:rPr>
              <a:t>Upstream DNS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427938A-260B-4C97-866B-ADBB3F6CD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85925"/>
            <a:ext cx="9525" cy="445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4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BD423C2-2A40-4C12-8FA4-F7B5A50ED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72200"/>
            <a:ext cx="10668000" cy="333375"/>
          </a:xfrm>
          <a:prstGeom xmlns:a="http://schemas.openxmlformats.org/drawingml/2006/main" prst="roundRect">
            <a:avLst>
              <a:gd name="adj" fmla="val 34286"/>
            </a:avLst>
          </a:prstGeom>
          <a:solidFill xmlns:a="http://schemas.openxmlformats.org/drawingml/2006/main">
            <a:srgbClr val="FFF3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ADE912A-3087-4F8A-B240-2F757393A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238875"/>
            <a:ext cx="1019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3809"/>
          </a:bodyPr>
          <a:lstStyle xmlns:a="http://schemas.openxmlformats.org/drawingml/2006/main">
            <a:defPPr algn="ctr">
              <a:defRPr sz="1050" b="1">
                <a:solidFill>
                  <a:srgbClr val="7C59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50" b="1">
                <a:solidFill>
                  <a:srgbClr val="7C591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7C591F"/>
                </a:solidFill>
                <a:latin typeface="Arial"/>
                <a:ea typeface="Arial"/>
                <a:cs typeface="Arial"/>
              </a:rPr>
              <a:t>Upstream timeout hoặc phản hồi không khớp query sẽ trả SERVFAIL, không âm thầm bỏ SafeSearch hoặc dùng DNS khác.</a:t>
            </a:r>
          </a:p>
        </p:txBody>
      </p:sp>
    </p:spTree>
    <p:extLst>
      <p:ext uri="{BB962C8B-B14F-4D97-AF65-F5344CB8AC3E}">
        <p14:creationId xmlns:p14="http://schemas.microsoft.com/office/powerpoint/2010/main" val="151453943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E2577AD-25E0-426F-AFF4-891435446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8A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6AD49F-685F-45C5-929A-EE2C1BE5A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57175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>
            <a:defPPr algn="l">
              <a:defRPr sz="825" b="1">
                <a:solidFill>
                  <a:srgbClr val="1F8A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825" b="1">
                <a:solidFill>
                  <a:srgbClr val="1F8A7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F8A70"/>
                </a:solidFill>
                <a:latin typeface="Arial"/>
                <a:ea typeface="Arial"/>
                <a:cs typeface="Arial"/>
              </a:rPr>
              <a:t>OPEN GUARD KIDS · TUẦN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9D1575-6F2D-424D-8099-1A34FFD36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42925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9020"/>
          </a:bodyPr>
          <a:lstStyle xmlns:a="http://schemas.openxmlformats.org/drawingml/2006/main">
            <a:defPPr algn="l">
              <a:defRPr sz="2550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354A"/>
                </a:solidFill>
                <a:latin typeface="Arial"/>
                <a:ea typeface="Arial"/>
                <a:cs typeface="Arial"/>
              </a:rPr>
              <a:t>Đồng bộ sự kiện offline và chống trùng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A42993-CB58-4715-A849-E099E29BC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26670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>
            <a:defPPr algn="r">
              <a:defRPr sz="825" b="1">
                <a:solidFill>
                  <a:srgbClr val="1F8A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825" b="1">
                <a:solidFill>
                  <a:srgbClr val="1F8A7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F8A70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52D0C6-810C-4546-A12A-A63D0B2E3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123950"/>
            <a:ext cx="11144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4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D849C1-A1DD-4F3A-ACC4-4DFC81534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276350"/>
            <a:ext cx="10668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5C706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C706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C706A"/>
                </a:solidFill>
                <a:latin typeface="Arial"/>
                <a:ea typeface="Arial"/>
                <a:cs typeface="Arial"/>
              </a:rPr>
              <a:t>UUID được tạo một lần tại agent và giữ nguyên qua mọi lần retry.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FAE052-275F-4C5D-82EE-5A745EEFA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857375"/>
            <a:ext cx="192405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4D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77C0CF-9451-47CA-92A8-BAE1663DA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1971675"/>
            <a:ext cx="1657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0392"/>
          </a:bodyPr>
          <a:lstStyle xmlns:a="http://schemas.openxmlformats.org/drawingml/2006/main">
            <a:defPPr algn="ctr">
              <a:defRPr sz="1275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354A"/>
                </a:solidFill>
                <a:latin typeface="Arial"/>
                <a:ea typeface="Arial"/>
                <a:cs typeface="Arial"/>
              </a:rPr>
              <a:t>1. Ghi local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52B1B0-810E-48C2-A47E-A1AE957B9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2266950"/>
            <a:ext cx="16573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ctr">
              <a:defRPr sz="975" b="0">
                <a:solidFill>
                  <a:srgbClr val="5C706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75" b="0">
                <a:solidFill>
                  <a:srgbClr val="5C706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C706A"/>
                </a:solidFill>
                <a:latin typeface="Arial"/>
                <a:ea typeface="Arial"/>
                <a:cs typeface="Arial"/>
              </a:rPr>
              <a:t>Event + explanation</a:t>
            </a:r>
          </a:p>
          <a:p xmlns:a="http://schemas.openxmlformats.org/drawingml/2006/main">
            <a:pPr algn="ctr">
              <a:defRPr sz="975" b="0">
                <a:solidFill>
                  <a:srgbClr val="5C706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C706A"/>
                </a:solidFill>
                <a:latin typeface="Arial"/>
                <a:ea typeface="Arial"/>
                <a:cs typeface="Arial"/>
              </a:rPr>
              <a:t>được lưu SQLite outbox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E80C5F-D4E6-44B2-8DCF-A3E9EF43C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2228850"/>
            <a:ext cx="514350" cy="2381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0D3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9F64D5-543D-4755-A72C-64BE4AAD1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1857375"/>
            <a:ext cx="192405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AF3F7"/>
          </a:solidFill>
          <a:ln xmlns:a="http://schemas.openxmlformats.org/drawingml/2006/main" w="9525">
            <a:solidFill>
              <a:srgbClr val="1A536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9F1074-E9E0-49FF-BE1F-40C8A0ACA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1971675"/>
            <a:ext cx="1657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0392"/>
          </a:bodyPr>
          <a:lstStyle xmlns:a="http://schemas.openxmlformats.org/drawingml/2006/main">
            <a:defPPr algn="ctr">
              <a:defRPr sz="1275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354A"/>
                </a:solidFill>
                <a:latin typeface="Arial"/>
                <a:ea typeface="Arial"/>
                <a:cs typeface="Arial"/>
              </a:rPr>
              <a:t>2. Đọc generation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47E7061-31AC-4EC4-8698-69E345C14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266950"/>
            <a:ext cx="16573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ctr">
              <a:defRPr sz="975" b="0">
                <a:solidFill>
                  <a:srgbClr val="5C706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75" b="0">
                <a:solidFill>
                  <a:srgbClr val="5C706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C706A"/>
                </a:solidFill>
                <a:latin typeface="Arial"/>
                <a:ea typeface="Arial"/>
                <a:cs typeface="Arial"/>
              </a:rPr>
              <a:t>GET /device/event-state</a:t>
            </a:r>
          </a:p>
          <a:p xmlns:a="http://schemas.openxmlformats.org/drawingml/2006/main">
            <a:pPr algn="ctr">
              <a:defRPr sz="975" b="0">
                <a:solidFill>
                  <a:srgbClr val="5C706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C706A"/>
                </a:solidFill>
                <a:latin typeface="Arial"/>
                <a:ea typeface="Arial"/>
                <a:cs typeface="Arial"/>
              </a:rPr>
              <a:t>trước khi upload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3EF1B9-349A-4A35-9FF4-011E0431F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228850"/>
            <a:ext cx="514350" cy="2381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0D3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9F3B2BF-317D-4BE0-9216-97B3B7A00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0725" y="1857375"/>
            <a:ext cx="192405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9F5F0"/>
          </a:solidFill>
          <a:ln xmlns:a="http://schemas.openxmlformats.org/drawingml/2006/main" w="9525">
            <a:solidFill>
              <a:srgbClr val="1F8A7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30080FA-D457-4A44-BE53-9570D7415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1971675"/>
            <a:ext cx="1657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0392"/>
          </a:bodyPr>
          <a:lstStyle xmlns:a="http://schemas.openxmlformats.org/drawingml/2006/main">
            <a:defPPr algn="ctr">
              <a:defRPr sz="1275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354A"/>
                </a:solidFill>
                <a:latin typeface="Arial"/>
                <a:ea typeface="Arial"/>
                <a:cs typeface="Arial"/>
              </a:rPr>
              <a:t>3. Gửi batch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EC6D772-6E05-4DCA-9B5B-10221F59A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2266950"/>
            <a:ext cx="16573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ctr">
              <a:defRPr sz="975" b="0">
                <a:solidFill>
                  <a:srgbClr val="5C706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75" b="0">
                <a:solidFill>
                  <a:srgbClr val="5C706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C706A"/>
                </a:solidFill>
                <a:latin typeface="Arial"/>
                <a:ea typeface="Arial"/>
                <a:cs typeface="Arial"/>
              </a:rPr>
              <a:t>Tối đa 100 event</a:t>
            </a:r>
          </a:p>
          <a:p xmlns:a="http://schemas.openxmlformats.org/drawingml/2006/main">
            <a:pPr algn="ctr">
              <a:defRPr sz="975" b="0">
                <a:solidFill>
                  <a:srgbClr val="5C706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C706A"/>
                </a:solidFill>
                <a:latin typeface="Arial"/>
                <a:ea typeface="Arial"/>
                <a:cs typeface="Arial"/>
              </a:rPr>
              <a:t>UUID không đổi khi retry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5769C07-40A8-42D4-A94F-739B31994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2228850"/>
            <a:ext cx="514350" cy="2381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0D3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3FD1036-8776-45A0-B0C7-F1FD2256B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857375"/>
            <a:ext cx="276225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4D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B701A7F-4C92-438D-A69E-BA3260375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971675"/>
            <a:ext cx="2495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0392"/>
          </a:bodyPr>
          <a:lstStyle xmlns:a="http://schemas.openxmlformats.org/drawingml/2006/main">
            <a:defPPr algn="ctr">
              <a:defRPr sz="1275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354A"/>
                </a:solidFill>
                <a:latin typeface="Arial"/>
                <a:ea typeface="Arial"/>
                <a:cs typeface="Arial"/>
              </a:rPr>
              <a:t>4. Server ACK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1FA3328-2405-4ECB-8F38-7D79E73D6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266950"/>
            <a:ext cx="24955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ctr">
              <a:defRPr sz="975" b="0">
                <a:solidFill>
                  <a:srgbClr val="5C706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75" b="0">
                <a:solidFill>
                  <a:srgbClr val="5C706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C706A"/>
                </a:solidFill>
                <a:latin typeface="Arial"/>
                <a:ea typeface="Arial"/>
                <a:cs typeface="Arial"/>
              </a:rPr>
              <a:t>Insert mới hoặc trả ACK cho UUID đã có</a:t>
            </a:r>
          </a:p>
          <a:p xmlns:a="http://schemas.openxmlformats.org/drawingml/2006/main">
            <a:pPr algn="ctr">
              <a:defRPr sz="975" b="0">
                <a:solidFill>
                  <a:srgbClr val="5C706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C706A"/>
                </a:solidFill>
                <a:latin typeface="Arial"/>
                <a:ea typeface="Arial"/>
                <a:cs typeface="Arial"/>
              </a:rPr>
              <a:t>409 nếu cùng UUID nhưng payload khác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FDCCBFA-13E8-4353-99BC-340A5EBA4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486150"/>
            <a:ext cx="4000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8636"/>
          </a:bodyPr>
          <a:lstStyle xmlns:a="http://schemas.openxmlformats.org/drawingml/2006/main">
            <a:defPPr algn="l">
              <a:defRPr sz="1650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354A"/>
                </a:solidFill>
                <a:latin typeface="Arial"/>
                <a:ea typeface="Arial"/>
                <a:cs typeface="Arial"/>
              </a:rPr>
              <a:t>Khi phụ huynh yêu cầu xóa dữ liệu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3944FB8-B177-42E0-9739-2C7E13F5C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019550"/>
            <a:ext cx="219075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0F0"/>
          </a:solidFill>
          <a:ln xmlns:a="http://schemas.openxmlformats.org/drawingml/2006/main" w="9525">
            <a:solidFill>
              <a:srgbClr val="C94D52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C359BE8-5C97-4D03-A025-7B844C6B3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4133850"/>
            <a:ext cx="1924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0392"/>
          </a:bodyPr>
          <a:lstStyle xmlns:a="http://schemas.openxmlformats.org/drawingml/2006/main">
            <a:defPPr algn="ctr">
              <a:defRPr sz="1275" b="1">
                <a:solidFill>
                  <a:srgbClr val="C94D5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C94D5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C94D52"/>
                </a:solidFill>
                <a:latin typeface="Arial"/>
                <a:ea typeface="Arial"/>
                <a:cs typeface="Arial"/>
              </a:rPr>
              <a:t>Server tăng generation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0AAC6A1-D87E-4E21-AA50-2E51D5B54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4429125"/>
            <a:ext cx="1924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ctr">
              <a:defRPr sz="975" b="0">
                <a:solidFill>
                  <a:srgbClr val="5C706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75" b="0">
                <a:solidFill>
                  <a:srgbClr val="5C706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C706A"/>
                </a:solidFill>
                <a:latin typeface="Arial"/>
                <a:ea typeface="Arial"/>
                <a:cs typeface="Arial"/>
              </a:rPr>
              <a:t>Xóa event và dữ liệu báo cáo trong cùng transaction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8012A9D-C93D-4EE7-91F2-A4C3A97C0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4400550"/>
            <a:ext cx="533400" cy="2381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94D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17E3F4E-BCAB-4E41-A7B4-214B36358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4019550"/>
            <a:ext cx="219075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3DE"/>
          </a:solidFill>
          <a:ln xmlns:a="http://schemas.openxmlformats.org/drawingml/2006/main" w="9525">
            <a:solidFill>
              <a:srgbClr val="E8A13B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BE5CE18-FCA3-4853-82BE-EB26A9515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133850"/>
            <a:ext cx="1924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0392"/>
          </a:bodyPr>
          <a:lstStyle xmlns:a="http://schemas.openxmlformats.org/drawingml/2006/main">
            <a:defPPr algn="ctr">
              <a:defRPr sz="1275" b="1">
                <a:solidFill>
                  <a:srgbClr val="8A621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8A621E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8A621E"/>
                </a:solidFill>
                <a:latin typeface="Arial"/>
                <a:ea typeface="Arial"/>
                <a:cs typeface="Arial"/>
              </a:rPr>
              <a:t>Agent kết nối lại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EB9BFB0-C813-468A-922B-38BF831D6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429125"/>
            <a:ext cx="1924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ctr">
              <a:defRPr sz="975" b="0">
                <a:solidFill>
                  <a:srgbClr val="5C706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75" b="0">
                <a:solidFill>
                  <a:srgbClr val="5C706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C706A"/>
                </a:solidFill>
                <a:latin typeface="Arial"/>
                <a:ea typeface="Arial"/>
                <a:cs typeface="Arial"/>
              </a:rPr>
              <a:t>Thấy generation mới và xóa history + outbox cũ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5CA3AB3-AA53-4089-AFC2-BA448FEE3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4400550"/>
            <a:ext cx="533400" cy="2381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94D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AE56EC4-76E2-43AA-A60D-5B7A7AE4B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4019550"/>
            <a:ext cx="219075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E9F5F0"/>
          </a:solidFill>
          <a:ln xmlns:a="http://schemas.openxmlformats.org/drawingml/2006/main" w="9525">
            <a:solidFill>
              <a:srgbClr val="1F8A70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1FBC739-843D-4D82-91CA-A7E982658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4133850"/>
            <a:ext cx="1924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0392"/>
          </a:bodyPr>
          <a:lstStyle xmlns:a="http://schemas.openxmlformats.org/drawingml/2006/main">
            <a:defPPr algn="ctr">
              <a:defRPr sz="1275" b="1">
                <a:solidFill>
                  <a:srgbClr val="1F8A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1F8A7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F8A70"/>
                </a:solidFill>
                <a:latin typeface="Arial"/>
                <a:ea typeface="Arial"/>
                <a:cs typeface="Arial"/>
              </a:rPr>
              <a:t>Agent ACK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E6CCE4E-2437-4A13-918A-17E08161B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4429125"/>
            <a:ext cx="1924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ctr">
              <a:defRPr sz="975" b="0">
                <a:solidFill>
                  <a:srgbClr val="5C706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75" b="0">
                <a:solidFill>
                  <a:srgbClr val="5C706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C706A"/>
                </a:solidFill>
                <a:latin typeface="Arial"/>
                <a:ea typeface="Arial"/>
                <a:cs typeface="Arial"/>
              </a:rPr>
              <a:t>POST event-state/ack sau khi commit local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C8C3925-61A1-4B94-B72F-AD1FBE61D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400550"/>
            <a:ext cx="533400" cy="2381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94D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DA6E308-3A71-4C43-8903-473E040BD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019550"/>
            <a:ext cx="184785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4DE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185B9CC-E987-4FCE-8C2B-C4DF4CF48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4133850"/>
            <a:ext cx="1581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0392"/>
          </a:bodyPr>
          <a:lstStyle xmlns:a="http://schemas.openxmlformats.org/drawingml/2006/main">
            <a:defPPr algn="ctr">
              <a:defRPr sz="1275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354A"/>
                </a:solidFill>
                <a:latin typeface="Arial"/>
                <a:ea typeface="Arial"/>
                <a:cs typeface="Arial"/>
              </a:rPr>
              <a:t>Hoàn tất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BA15E65-A27D-4102-9FE4-08B97E67F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4429125"/>
            <a:ext cx="15811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ctr">
              <a:defRPr sz="975" b="0">
                <a:solidFill>
                  <a:srgbClr val="5C706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75" b="0">
                <a:solidFill>
                  <a:srgbClr val="5C706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C706A"/>
                </a:solidFill>
                <a:latin typeface="Arial"/>
                <a:ea typeface="Arial"/>
                <a:cs typeface="Arial"/>
              </a:rPr>
              <a:t>Dashboard hết trạng thái đang chờ thiết bị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9E66D8F-AEBC-4F55-9690-E778A1F74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676900"/>
            <a:ext cx="10677525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E9F5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2BA02A0-6351-4CB0-A813-733CD5835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10250"/>
            <a:ext cx="102108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ctr">
              <a:defRPr sz="1125" b="1">
                <a:solidFill>
                  <a:srgbClr val="1F8A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25" b="1">
                <a:solidFill>
                  <a:srgbClr val="1F8A7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F8A70"/>
                </a:solidFill>
                <a:latin typeface="Arial"/>
                <a:ea typeface="Arial"/>
                <a:cs typeface="Arial"/>
              </a:rPr>
              <a:t>Event thuộc generation cũ bị discard kể cả khi đến server sau yêu cầu xóa, nên dữ liệu đã xóa không xuất hiện trở lại.</a:t>
            </a:r>
          </a:p>
        </p:txBody>
      </p:sp>
    </p:spTree>
    <p:extLst>
      <p:ext uri="{BB962C8B-B14F-4D97-AF65-F5344CB8AC3E}">
        <p14:creationId xmlns:p14="http://schemas.microsoft.com/office/powerpoint/2010/main" val="174686999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BA1D0EC-65E0-49D5-A7A9-E1B105E78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8A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ED45F9-7DF7-45A2-808A-0E8B71A7E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57175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>
            <a:defPPr algn="l">
              <a:defRPr sz="825" b="1">
                <a:solidFill>
                  <a:srgbClr val="1F8A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825" b="1">
                <a:solidFill>
                  <a:srgbClr val="1F8A7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F8A70"/>
                </a:solidFill>
                <a:latin typeface="Arial"/>
                <a:ea typeface="Arial"/>
                <a:cs typeface="Arial"/>
              </a:rPr>
              <a:t>OPEN GUARD KIDS · TUẦN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EB5010-790C-43D2-AF9F-CC0A491A2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42925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9020"/>
          </a:bodyPr>
          <a:lstStyle xmlns:a="http://schemas.openxmlformats.org/drawingml/2006/main">
            <a:defPPr algn="l">
              <a:defRPr sz="2550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354A"/>
                </a:solidFill>
                <a:latin typeface="Arial"/>
                <a:ea typeface="Arial"/>
                <a:cs typeface="Arial"/>
              </a:rPr>
              <a:t>Luồng tổng hợp báo cáo hoạt động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342723-C685-42DE-B416-7F0B06001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26670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>
            <a:defPPr algn="r">
              <a:defRPr sz="825" b="1">
                <a:solidFill>
                  <a:srgbClr val="1F8A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825" b="1">
                <a:solidFill>
                  <a:srgbClr val="1F8A7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F8A70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2547EA-8F6B-4D67-9945-220BF98F7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123950"/>
            <a:ext cx="11144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4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EC43F0-85AD-45A6-998D-752B65B0B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276350"/>
            <a:ext cx="10668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5C706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C706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C706A"/>
                </a:solidFill>
                <a:latin typeface="Arial"/>
                <a:ea typeface="Arial"/>
                <a:cs typeface="Arial"/>
              </a:rPr>
              <a:t>Dashboard và Tray dùng cùng hàm tổng hợp để số liệu có cùng ý nghĩa.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98E178-F77F-4009-9810-C538EE340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943100"/>
            <a:ext cx="2095500" cy="1162050"/>
          </a:xfrm>
          <a:prstGeom xmlns:a="http://schemas.openxmlformats.org/drawingml/2006/main" prst="roundRect">
            <a:avLst>
              <a:gd name="adj" fmla="val 98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4D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105A57-F668-433D-8287-C97725CB6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2057400"/>
            <a:ext cx="1828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0392"/>
          </a:bodyPr>
          <a:lstStyle xmlns:a="http://schemas.openxmlformats.org/drawingml/2006/main">
            <a:defPPr algn="ctr">
              <a:defRPr sz="1275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354A"/>
                </a:solidFill>
                <a:latin typeface="Arial"/>
                <a:ea typeface="Arial"/>
                <a:cs typeface="Arial"/>
              </a:rPr>
              <a:t>Sự kiện đầu vào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29C827-C3F1-43EB-A5C9-02051620C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2352675"/>
            <a:ext cx="1828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6795"/>
          </a:bodyPr>
          <a:lstStyle xmlns:a="http://schemas.openxmlformats.org/drawingml/2006/main">
            <a:defPPr algn="ctr">
              <a:defRPr sz="975" b="0">
                <a:solidFill>
                  <a:srgbClr val="5C706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75" b="0">
                <a:solidFill>
                  <a:srgbClr val="5C706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C706A"/>
                </a:solidFill>
                <a:latin typeface="Arial"/>
                <a:ea typeface="Arial"/>
                <a:cs typeface="Arial"/>
              </a:rPr>
              <a:t>app_stop + duration</a:t>
            </a:r>
          </a:p>
          <a:p xmlns:a="http://schemas.openxmlformats.org/drawingml/2006/main">
            <a:pPr algn="ctr">
              <a:defRPr sz="975" b="0">
                <a:solidFill>
                  <a:srgbClr val="5C706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C706A"/>
                </a:solidFill>
                <a:latin typeface="Arial"/>
                <a:ea typeface="Arial"/>
                <a:cs typeface="Arial"/>
              </a:rPr>
              <a:t>domain_query</a:t>
            </a:r>
          </a:p>
          <a:p xmlns:a="http://schemas.openxmlformats.org/drawingml/2006/main">
            <a:pPr algn="ctr">
              <a:defRPr sz="975" b="0">
                <a:solidFill>
                  <a:srgbClr val="5C706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C706A"/>
                </a:solidFill>
                <a:latin typeface="Arial"/>
                <a:ea typeface="Arial"/>
                <a:cs typeface="Arial"/>
              </a:rPr>
              <a:t>blocked_app / blocked_domain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597E8B-D10C-4F88-B811-386953827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2390775"/>
            <a:ext cx="590550" cy="2381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0D3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EF4B1C-4DEF-43F5-B20C-8330CD64E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943100"/>
            <a:ext cx="2381250" cy="1162050"/>
          </a:xfrm>
          <a:prstGeom xmlns:a="http://schemas.openxmlformats.org/drawingml/2006/main" prst="roundRect">
            <a:avLst>
              <a:gd name="adj" fmla="val 9836"/>
            </a:avLst>
          </a:prstGeom>
          <a:solidFill xmlns:a="http://schemas.openxmlformats.org/drawingml/2006/main">
            <a:srgbClr val="E9F5F0"/>
          </a:solidFill>
          <a:ln xmlns:a="http://schemas.openxmlformats.org/drawingml/2006/main" w="9525">
            <a:solidFill>
              <a:srgbClr val="1F8A7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A7F280-9FBD-4705-99DA-0C79EB464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057400"/>
            <a:ext cx="2114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0392"/>
          </a:bodyPr>
          <a:lstStyle xmlns:a="http://schemas.openxmlformats.org/drawingml/2006/main">
            <a:defPPr algn="ctr">
              <a:defRPr sz="1275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354A"/>
                </a:solidFill>
                <a:latin typeface="Arial"/>
                <a:ea typeface="Arial"/>
                <a:cs typeface="Arial"/>
              </a:rPr>
              <a:t>activity_report()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2C73EA-295D-403D-BA79-FC0F0385B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352675"/>
            <a:ext cx="21145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ctr">
              <a:defRPr sz="975" b="0">
                <a:solidFill>
                  <a:srgbClr val="5C706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75" b="0">
                <a:solidFill>
                  <a:srgbClr val="5C706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C706A"/>
                </a:solidFill>
                <a:latin typeface="Arial"/>
                <a:ea typeface="Arial"/>
                <a:cs typeface="Arial"/>
              </a:rPr>
              <a:t>Cắt theo UTC+7</a:t>
            </a:r>
          </a:p>
          <a:p xmlns:a="http://schemas.openxmlformats.org/drawingml/2006/main">
            <a:pPr algn="ctr">
              <a:defRPr sz="975" b="0">
                <a:solidFill>
                  <a:srgbClr val="5C706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C706A"/>
                </a:solidFill>
                <a:latin typeface="Arial"/>
                <a:ea typeface="Arial"/>
                <a:cs typeface="Arial"/>
              </a:rPr>
              <a:t>chia đoạn qua nửa đêm</a:t>
            </a:r>
          </a:p>
          <a:p xmlns:a="http://schemas.openxmlformats.org/drawingml/2006/main">
            <a:pPr algn="ctr">
              <a:defRPr sz="975" b="0">
                <a:solidFill>
                  <a:srgbClr val="5C706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C706A"/>
                </a:solidFill>
                <a:latin typeface="Arial"/>
                <a:ea typeface="Arial"/>
                <a:cs typeface="Arial"/>
              </a:rPr>
              <a:t>gom theo ngày và tuần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FC5EA87-4C8E-4B5E-AC6B-69974042B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390775"/>
            <a:ext cx="590550" cy="2381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0D3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F40788C-3403-4211-BEBF-582F5ACF3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1943100"/>
            <a:ext cx="2095500" cy="1162050"/>
          </a:xfrm>
          <a:prstGeom xmlns:a="http://schemas.openxmlformats.org/drawingml/2006/main" prst="roundRect">
            <a:avLst>
              <a:gd name="adj" fmla="val 9836"/>
            </a:avLst>
          </a:prstGeom>
          <a:solidFill xmlns:a="http://schemas.openxmlformats.org/drawingml/2006/main">
            <a:srgbClr val="EAF3F7"/>
          </a:solidFill>
          <a:ln xmlns:a="http://schemas.openxmlformats.org/drawingml/2006/main" w="9525">
            <a:solidFill>
              <a:srgbClr val="1A536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96F5186-64D8-41DF-80D5-A09297A78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3225" y="2057400"/>
            <a:ext cx="1828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0392"/>
          </a:bodyPr>
          <a:lstStyle xmlns:a="http://schemas.openxmlformats.org/drawingml/2006/main">
            <a:defPPr algn="ctr">
              <a:defRPr sz="1275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354A"/>
                </a:solidFill>
                <a:latin typeface="Arial"/>
                <a:ea typeface="Arial"/>
                <a:cs typeface="Arial"/>
              </a:rPr>
              <a:t>Dữ liệu dẫn xuất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28B3078-89ED-4986-92A8-11290FEC1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3225" y="2352675"/>
            <a:ext cx="1828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ctr">
              <a:defRPr sz="975" b="0">
                <a:solidFill>
                  <a:srgbClr val="5C706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75" b="0">
                <a:solidFill>
                  <a:srgbClr val="5C706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C706A"/>
                </a:solidFill>
                <a:latin typeface="Arial"/>
                <a:ea typeface="Arial"/>
                <a:cs typeface="Arial"/>
              </a:rPr>
              <a:t>total duration</a:t>
            </a:r>
          </a:p>
          <a:p xmlns:a="http://schemas.openxmlformats.org/drawingml/2006/main">
            <a:pPr algn="ctr">
              <a:defRPr sz="975" b="0">
                <a:solidFill>
                  <a:srgbClr val="5C706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C706A"/>
                </a:solidFill>
                <a:latin typeface="Arial"/>
                <a:ea typeface="Arial"/>
                <a:cs typeface="Arial"/>
              </a:rPr>
              <a:t>blocked count</a:t>
            </a:r>
          </a:p>
          <a:p xmlns:a="http://schemas.openxmlformats.org/drawingml/2006/main">
            <a:pPr algn="ctr">
              <a:defRPr sz="975" b="0">
                <a:solidFill>
                  <a:srgbClr val="5C706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C706A"/>
                </a:solidFill>
                <a:latin typeface="Arial"/>
                <a:ea typeface="Arial"/>
                <a:cs typeface="Arial"/>
              </a:rPr>
              <a:t>top apps + top domains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0BCE972-A40D-4059-9899-3D8F374DF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390775"/>
            <a:ext cx="590550" cy="2381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0D3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DA51AE0-4310-4E0E-87FB-09E2471A2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943100"/>
            <a:ext cx="2095500" cy="1162050"/>
          </a:xfrm>
          <a:prstGeom xmlns:a="http://schemas.openxmlformats.org/drawingml/2006/main" prst="roundRect">
            <a:avLst>
              <a:gd name="adj" fmla="val 98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4D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772CB77-C39A-4DA5-8897-95F143045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057400"/>
            <a:ext cx="1828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0392"/>
          </a:bodyPr>
          <a:lstStyle xmlns:a="http://schemas.openxmlformats.org/drawingml/2006/main">
            <a:defPPr algn="ctr">
              <a:defRPr sz="1275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354A"/>
                </a:solidFill>
                <a:latin typeface="Arial"/>
                <a:ea typeface="Arial"/>
                <a:cs typeface="Arial"/>
              </a:rPr>
              <a:t>Đầu ra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8EF2708-A938-471D-BF4F-77437B015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352675"/>
            <a:ext cx="1828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ctr">
              <a:defRPr sz="975" b="0">
                <a:solidFill>
                  <a:srgbClr val="5C706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75" b="0">
                <a:solidFill>
                  <a:srgbClr val="5C706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C706A"/>
                </a:solidFill>
                <a:latin typeface="Arial"/>
                <a:ea typeface="Arial"/>
                <a:cs typeface="Arial"/>
              </a:rPr>
              <a:t>Dashboard</a:t>
            </a:r>
          </a:p>
          <a:p xmlns:a="http://schemas.openxmlformats.org/drawingml/2006/main">
            <a:pPr algn="ctr">
              <a:defRPr sz="975" b="0">
                <a:solidFill>
                  <a:srgbClr val="5C706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C706A"/>
                </a:solidFill>
                <a:latin typeface="Arial"/>
                <a:ea typeface="Arial"/>
                <a:cs typeface="Arial"/>
              </a:rPr>
              <a:t>Tray Hôm nay</a:t>
            </a:r>
          </a:p>
          <a:p xmlns:a="http://schemas.openxmlformats.org/drawingml/2006/main">
            <a:pPr algn="ctr">
              <a:defRPr sz="975" b="0">
                <a:solidFill>
                  <a:srgbClr val="5C706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C706A"/>
                </a:solidFill>
                <a:latin typeface="Arial"/>
                <a:ea typeface="Arial"/>
                <a:cs typeface="Arial"/>
              </a:rPr>
              <a:t>PDF / CSV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C640560-275F-4F15-B66F-54F5859A9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75285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8406"/>
          </a:bodyPr>
          <a:lstStyle xmlns:a="http://schemas.openxmlformats.org/drawingml/2006/main">
            <a:defPPr algn="l">
              <a:defRPr sz="1725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354A"/>
                </a:solidFill>
                <a:latin typeface="Arial"/>
                <a:ea typeface="Arial"/>
                <a:cs typeface="Arial"/>
              </a:rPr>
              <a:t>Cách hiểu đúng số liệu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2561CCC-7ED2-47AB-BFBD-429E28762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381500"/>
            <a:ext cx="295275" cy="238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8A7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1195"/>
          </a:bodyPr>
          <a:lstStyle xmlns:a="http://schemas.openxmlformats.org/drawingml/2006/main">
            <a:def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7A71172-4F1A-4DE6-984C-901B31B51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434340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>
            <a:defPPr algn="l">
              <a:defRPr sz="1350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354A"/>
                </a:solidFill>
                <a:latin typeface="Arial"/>
                <a:ea typeface="Arial"/>
                <a:cs typeface="Arial"/>
              </a:rPr>
              <a:t>Thời gian dùng máy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38C4A33-EE1A-4384-BE0A-467CB3EF7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4743450"/>
            <a:ext cx="300037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5C706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5C706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C706A"/>
                </a:solidFill>
                <a:latin typeface="Arial"/>
                <a:ea typeface="Arial"/>
                <a:cs typeface="Arial"/>
              </a:rPr>
              <a:t>Chỉ tính khi Tray hiện diện, trẻ đăng nhập, máy không khóa và không idle quá ngưỡng.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0B4DA49-A274-4B1A-8CB0-DB88B756B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4381500"/>
            <a:ext cx="295275" cy="238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A536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1195"/>
          </a:bodyPr>
          <a:lstStyle xmlns:a="http://schemas.openxmlformats.org/drawingml/2006/main">
            <a:def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B15FAE7-8502-4B9E-864E-EBD51695F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434340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>
            <a:defPPr algn="l">
              <a:defRPr sz="1350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354A"/>
                </a:solidFill>
                <a:latin typeface="Arial"/>
                <a:ea typeface="Arial"/>
                <a:cs typeface="Arial"/>
              </a:rPr>
              <a:t>Top ứng dụng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C755865-2581-410A-9742-AA84FC2C7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4743450"/>
            <a:ext cx="300037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5C706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5C706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C706A"/>
                </a:solidFill>
                <a:latin typeface="Arial"/>
                <a:ea typeface="Arial"/>
                <a:cs typeface="Arial"/>
              </a:rPr>
              <a:t>Tổng thời gian process chạy; ứng dụng có thể chạy nền hoặc chạy cùng lúc.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E2EE976-8FB4-4CC3-8593-3BBAFCAEE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381500"/>
            <a:ext cx="295275" cy="238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8A7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1195"/>
          </a:bodyPr>
          <a:lstStyle xmlns:a="http://schemas.openxmlformats.org/drawingml/2006/main">
            <a:def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2451E41-713D-4B92-AA26-4DD49C51D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434340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>
            <a:defPPr algn="l">
              <a:defRPr sz="1350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354A"/>
                </a:solidFill>
                <a:latin typeface="Arial"/>
                <a:ea typeface="Arial"/>
                <a:cs typeface="Arial"/>
              </a:rPr>
              <a:t>Top tên miền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8BED9BB-36DB-4AC3-8B63-354752A0C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4743450"/>
            <a:ext cx="300037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5C706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5C706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C706A"/>
                </a:solidFill>
                <a:latin typeface="Arial"/>
                <a:ea typeface="Arial"/>
                <a:cs typeface="Arial"/>
              </a:rPr>
              <a:t>Số lượt DNS đã gộp trong cửa sổ 5 giây; không phải số lần mở trang.</a:t>
            </a:r>
          </a:p>
        </p:txBody>
      </p:sp>
    </p:spTree>
    <p:extLst>
      <p:ext uri="{BB962C8B-B14F-4D97-AF65-F5344CB8AC3E}">
        <p14:creationId xmlns:p14="http://schemas.microsoft.com/office/powerpoint/2010/main" val="179686673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575C0EF-DAF8-48C3-983D-865B076EB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8A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A40CCF-7583-4FB7-9D14-D5B9AEBC1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57175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>
            <a:defPPr algn="l">
              <a:defRPr sz="825" b="1">
                <a:solidFill>
                  <a:srgbClr val="1F8A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825" b="1">
                <a:solidFill>
                  <a:srgbClr val="1F8A7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F8A70"/>
                </a:solidFill>
                <a:latin typeface="Arial"/>
                <a:ea typeface="Arial"/>
                <a:cs typeface="Arial"/>
              </a:rPr>
              <a:t>OPEN GUARD KIDS · TUẦN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1EA135-11BB-449C-8F0C-210EA38B1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42925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9020"/>
          </a:bodyPr>
          <a:lstStyle xmlns:a="http://schemas.openxmlformats.org/drawingml/2006/main">
            <a:defPPr algn="l">
              <a:defRPr sz="2550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354A"/>
                </a:solidFill>
                <a:latin typeface="Arial"/>
                <a:ea typeface="Arial"/>
                <a:cs typeface="Arial"/>
              </a:rPr>
              <a:t>Kịch bản demo xuyên suốt để trình bày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FD7336-931F-4459-ACDB-AEE8B444A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26670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>
            <a:defPPr algn="r">
              <a:defRPr sz="825" b="1">
                <a:solidFill>
                  <a:srgbClr val="1F8A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825" b="1">
                <a:solidFill>
                  <a:srgbClr val="1F8A7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F8A70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29F840-2375-4029-AA4A-A66B4E456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123950"/>
            <a:ext cx="11144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4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8393D3-511B-4CF2-AE65-BA75AF715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276350"/>
            <a:ext cx="10668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5C706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C706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C706A"/>
                </a:solidFill>
                <a:latin typeface="Arial"/>
                <a:ea typeface="Arial"/>
                <a:cs typeface="Arial"/>
              </a:rPr>
              <a:t>Mỗi bước demo liên hệ trực tiếp với một sơ đồ kỹ thuật trong bộ slide.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BE7567-97E1-415B-990B-13BF6EE1F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81175"/>
            <a:ext cx="295275" cy="238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8A7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1195"/>
          </a:bodyPr>
          <a:lstStyle xmlns:a="http://schemas.openxmlformats.org/drawingml/2006/main">
            <a:def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4B239F-8836-4372-A25A-2890B1CFE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733550"/>
            <a:ext cx="1666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354A"/>
                </a:solidFill>
                <a:latin typeface="Arial"/>
                <a:ea typeface="Arial"/>
                <a:cs typeface="Arial"/>
              </a:rPr>
              <a:t>Lưu policy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A322F1-C0E4-42DE-B56B-15FD8DDCA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1733550"/>
            <a:ext cx="6762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17312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17312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7312C"/>
                </a:solidFill>
                <a:latin typeface="Arial"/>
                <a:ea typeface="Arial"/>
                <a:cs typeface="Arial"/>
              </a:rPr>
              <a:t>Chọn ứng dụng đã phát hiện và thêm example.com vào blocklist.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CCAC0B-44D2-4A37-98C0-F959CBE04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762125"/>
            <a:ext cx="11430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8A7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5838"/>
          </a:bodyPr>
          <a:lstStyle xmlns:a="http://schemas.openxmlformats.org/drawingml/2006/main">
            <a:def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Slide 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05F727-D8ED-4042-BF0F-0DC208F1C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352675"/>
            <a:ext cx="10048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4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083D686-CB0C-4A84-B834-FF88C0E71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38425"/>
            <a:ext cx="295275" cy="238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A536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1195"/>
          </a:bodyPr>
          <a:lstStyle xmlns:a="http://schemas.openxmlformats.org/drawingml/2006/main">
            <a:def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FE11D0B-C294-47C9-91A1-BBEC3BD10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590800"/>
            <a:ext cx="1666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354A"/>
                </a:solidFill>
                <a:latin typeface="Arial"/>
                <a:ea typeface="Arial"/>
                <a:cs typeface="Arial"/>
              </a:rPr>
              <a:t>Chặn app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02A4678-1A94-4925-8AA8-E3D912804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2590800"/>
            <a:ext cx="6762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17312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17312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7312C"/>
                </a:solidFill>
                <a:latin typeface="Arial"/>
                <a:ea typeface="Arial"/>
                <a:cs typeface="Arial"/>
              </a:rPr>
              <a:t>Mở executable lab, quan sát process bị kill và popup lý do.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5C515D2-CD63-4D07-8FF5-6B9890B3E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619375"/>
            <a:ext cx="11430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A536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5838"/>
          </a:bodyPr>
          <a:lstStyle xmlns:a="http://schemas.openxmlformats.org/drawingml/2006/main">
            <a:def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Slide 4–5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C142003-D088-4954-88AA-D213D06F1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209925"/>
            <a:ext cx="10048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4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79D0FAA-1E22-489E-A20A-B2C1E93BA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495675"/>
            <a:ext cx="295275" cy="238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8A7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1195"/>
          </a:bodyPr>
          <a:lstStyle xmlns:a="http://schemas.openxmlformats.org/drawingml/2006/main">
            <a:def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AC7047A-8BE6-462B-9978-D1A219BF0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448050"/>
            <a:ext cx="1666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354A"/>
                </a:solidFill>
                <a:latin typeface="Arial"/>
                <a:ea typeface="Arial"/>
                <a:cs typeface="Arial"/>
              </a:rPr>
              <a:t>Chặn web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F582F20-A4D6-44D5-9F59-EDB52054D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3448050"/>
            <a:ext cx="6762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17312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17312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7312C"/>
                </a:solidFill>
                <a:latin typeface="Arial"/>
                <a:ea typeface="Arial"/>
                <a:cs typeface="Arial"/>
              </a:rPr>
              <a:t>Mở example.com, browser nhận lỗi DNS và Tray ghi blocked_domain.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5194145-E57B-41BB-BBD5-61794CA5A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476625"/>
            <a:ext cx="11430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8A7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5838"/>
          </a:bodyPr>
          <a:lstStyle xmlns:a="http://schemas.openxmlformats.org/drawingml/2006/main">
            <a:def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Slide 6–8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953C625-6E11-4B56-8D53-9B68974FA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067175"/>
            <a:ext cx="10048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4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F43D607-22E7-4FF0-BC95-7E7C25202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352925"/>
            <a:ext cx="295275" cy="238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A536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1195"/>
          </a:bodyPr>
          <a:lstStyle xmlns:a="http://schemas.openxmlformats.org/drawingml/2006/main">
            <a:def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FA4504A-C418-4013-AF09-BBDAF17F7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305300"/>
            <a:ext cx="1666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354A"/>
                </a:solidFill>
                <a:latin typeface="Arial"/>
                <a:ea typeface="Arial"/>
                <a:cs typeface="Arial"/>
              </a:rPr>
              <a:t>Mất mạng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B74E057-37AC-4738-9A1A-4CE8396D1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4305300"/>
            <a:ext cx="6762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17312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17312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7312C"/>
                </a:solidFill>
                <a:latin typeface="Arial"/>
                <a:ea typeface="Arial"/>
                <a:cs typeface="Arial"/>
              </a:rPr>
              <a:t>Dừng server, tạo event rồi bật lại để chứng minh retry không nhân đôi.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5E95438-56AA-4F20-9CDE-6A6618E3B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4333875"/>
            <a:ext cx="11430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A536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5838"/>
          </a:bodyPr>
          <a:lstStyle xmlns:a="http://schemas.openxmlformats.org/drawingml/2006/main">
            <a:def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Slide 9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26B4FB5-9CE7-4D0D-9057-7E25BE6A1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924425"/>
            <a:ext cx="10048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4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ED2F7A7-D793-493E-B6D2-628FF03E6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10175"/>
            <a:ext cx="295275" cy="238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8A7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1195"/>
          </a:bodyPr>
          <a:lstStyle xmlns:a="http://schemas.openxmlformats.org/drawingml/2006/main">
            <a:def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4791EBC-1474-41B4-B05E-58B2011CB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162550"/>
            <a:ext cx="1666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354A"/>
                </a:solidFill>
                <a:latin typeface="Arial"/>
                <a:ea typeface="Arial"/>
                <a:cs typeface="Arial"/>
              </a:rPr>
              <a:t>Báo cáo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CBD84AE-3A9B-49C3-B97C-DF6038B3E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5162550"/>
            <a:ext cx="6762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17312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17312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7312C"/>
                </a:solidFill>
                <a:latin typeface="Arial"/>
                <a:ea typeface="Arial"/>
                <a:cs typeface="Arial"/>
              </a:rPr>
              <a:t>Mở báo cáo, giải thích 7 ngày, 8 tuần, top app/domain và xuất PDF.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A0E574E-D65E-478A-852D-AC45D52DF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5191125"/>
            <a:ext cx="11430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8A7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5838"/>
          </a:bodyPr>
          <a:lstStyle xmlns:a="http://schemas.openxmlformats.org/drawingml/2006/main">
            <a:def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Slide 10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81199F9-27BC-461B-9B82-1D16C77D7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086475"/>
            <a:ext cx="10553700" cy="38100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FFF3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6CF0B2F-292D-4E71-8ADE-8B8D6FE5A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162675"/>
            <a:ext cx="10144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>
            <a:defPPr algn="ctr">
              <a:defRPr sz="1050" b="1">
                <a:solidFill>
                  <a:srgbClr val="7C59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50" b="1">
                <a:solidFill>
                  <a:srgbClr val="7C591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7C591F"/>
                </a:solidFill>
                <a:latin typeface="Arial"/>
                <a:ea typeface="Arial"/>
                <a:cs typeface="Arial"/>
              </a:rPr>
              <a:t>Chỉ dùng executable và domain lab; không thử terminate ứng dụng có dữ liệu chưa lưu và không tìm nội dung không phù hợp để test SafeSearch.</a:t>
            </a:r>
          </a:p>
        </p:txBody>
      </p:sp>
    </p:spTree>
    <p:extLst>
      <p:ext uri="{BB962C8B-B14F-4D97-AF65-F5344CB8AC3E}">
        <p14:creationId xmlns:p14="http://schemas.microsoft.com/office/powerpoint/2010/main" val="120688244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47A9543-B1B1-415E-881F-027CB34C3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8A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4645C2-CC67-48F2-9408-3EA46CC57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57175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>
            <a:defPPr algn="l">
              <a:defRPr sz="825" b="1">
                <a:solidFill>
                  <a:srgbClr val="1F8A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825" b="1">
                <a:solidFill>
                  <a:srgbClr val="1F8A7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F8A70"/>
                </a:solidFill>
                <a:latin typeface="Arial"/>
                <a:ea typeface="Arial"/>
                <a:cs typeface="Arial"/>
              </a:rPr>
              <a:t>OPEN GUARD KIDS · TUẦN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C26D2F-3B45-4548-A300-F25D61B9B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42925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9020"/>
          </a:bodyPr>
          <a:lstStyle xmlns:a="http://schemas.openxmlformats.org/drawingml/2006/main">
            <a:defPPr algn="l">
              <a:defRPr sz="2550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354A"/>
                </a:solidFill>
                <a:latin typeface="Arial"/>
                <a:ea typeface="Arial"/>
                <a:cs typeface="Arial"/>
              </a:rPr>
              <a:t>Kiểm chứng và giới hạn hiện tại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DCA803-7931-4DDD-8AB3-5D18165E2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26670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>
            <a:defPPr algn="r">
              <a:defRPr sz="825" b="1">
                <a:solidFill>
                  <a:srgbClr val="1F8A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825" b="1">
                <a:solidFill>
                  <a:srgbClr val="1F8A7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F8A70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E90CC6-1703-4AE7-A6F8-2411E3113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123950"/>
            <a:ext cx="11144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4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66A9C5-5D0E-4979-AC34-83B078C02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276350"/>
            <a:ext cx="10668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5C706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C706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C706A"/>
                </a:solidFill>
                <a:latin typeface="Arial"/>
                <a:ea typeface="Arial"/>
                <a:cs typeface="Arial"/>
              </a:rPr>
              <a:t>Bộ test chứng minh logic phần mềm; nghiệm thu Windows thật vẫn cần thực hiện trên máy lab độc lập.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4837E0-23B9-42E2-8D45-F5909F227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14500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1667"/>
          </a:bodyPr>
          <a:lstStyle xmlns:a="http://schemas.openxmlformats.org/drawingml/2006/main">
            <a:defPPr algn="l">
              <a:defRPr sz="1800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354A"/>
                </a:solidFill>
                <a:latin typeface="Arial"/>
                <a:ea typeface="Arial"/>
                <a:cs typeface="Arial"/>
              </a:rPr>
              <a:t>Bằng chứng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C054F7-3ACF-4B3F-A968-AC937F226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38375"/>
            <a:ext cx="4619625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350">
                <a:solidFill>
                  <a:srgbClr val="17312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marL="228600" indent="-114300">
              <a:spcAft>
                <a:spcPts val="1200"/>
              </a:spcAft>
              <a:buChar char="•"/>
              <a:defRPr sz="1350">
                <a:solidFill>
                  <a:srgbClr val="17312C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17312C"/>
                </a:solidFill>
                <a:latin typeface="Arial"/>
                <a:ea typeface="Arial"/>
                <a:cs typeface="Arial"/>
              </a:rPr>
              <a:t>179 pytest đạt tại mốc 09/10/2026.</a:t>
            </a:r>
          </a:p>
          <a:p xmlns:a="http://schemas.openxmlformats.org/drawingml/2006/main">
            <a:pPr marL="228600" indent="-114300">
              <a:spcAft>
                <a:spcPts val="1200"/>
              </a:spcAft>
              <a:buChar char="•"/>
              <a:defRPr sz="1350">
                <a:solidFill>
                  <a:srgbClr val="17312C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17312C"/>
                </a:solidFill>
                <a:latin typeface="Arial"/>
                <a:ea typeface="Arial"/>
                <a:cs typeface="Arial"/>
              </a:rPr>
              <a:t>108 test F2/F3/Tray đạt tại mốc 11/10/2026.</a:t>
            </a:r>
          </a:p>
          <a:p xmlns:a="http://schemas.openxmlformats.org/drawingml/2006/main">
            <a:pPr marL="228600" indent="-114300">
              <a:spcAft>
                <a:spcPts val="1200"/>
              </a:spcAft>
              <a:buChar char="•"/>
              <a:defRPr sz="1350">
                <a:solidFill>
                  <a:srgbClr val="17312C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17312C"/>
                </a:solidFill>
                <a:latin typeface="Arial"/>
                <a:ea typeface="Arial"/>
                <a:cs typeface="Arial"/>
              </a:rPr>
              <a:t>DNS isolated đạt 50/50 miền chặn và 20/20 miền giáo dục.</a:t>
            </a:r>
          </a:p>
          <a:p xmlns:a="http://schemas.openxmlformats.org/drawingml/2006/main">
            <a:pPr marL="228600" indent="-114300">
              <a:spcAft>
                <a:spcPts val="1200"/>
              </a:spcAft>
              <a:buChar char="•"/>
              <a:defRPr sz="1350">
                <a:solidFill>
                  <a:srgbClr val="17312C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17312C"/>
                </a:solidFill>
                <a:latin typeface="Arial"/>
                <a:ea typeface="Arial"/>
                <a:cs typeface="Arial"/>
              </a:rPr>
              <a:t>480 truy vấn A/AAAA qua UDP/TCP đều đạt kỳ vọng.</a:t>
            </a:r>
          </a:p>
          <a:p xmlns:a="http://schemas.openxmlformats.org/drawingml/2006/main">
            <a:pPr marL="228600" indent="-114300">
              <a:spcAft>
                <a:spcPts val="1200"/>
              </a:spcAft>
              <a:buChar char="•"/>
              <a:defRPr sz="1350">
                <a:solidFill>
                  <a:srgbClr val="17312C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17312C"/>
                </a:solidFill>
                <a:latin typeface="Arial"/>
                <a:ea typeface="Arial"/>
                <a:cs typeface="Arial"/>
              </a:rPr>
              <a:t>Dashboard regression trên Edge headless đạt.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7732E2-BC53-4E27-A7F5-FE3527EBD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1695450"/>
            <a:ext cx="9525" cy="3667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4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229D65-D702-4E92-AB80-2F75FA673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714500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1667"/>
          </a:bodyPr>
          <a:lstStyle xmlns:a="http://schemas.openxmlformats.org/drawingml/2006/main">
            <a:defPPr algn="l">
              <a:defRPr sz="1800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354A"/>
                </a:solidFill>
                <a:latin typeface="Arial"/>
                <a:ea typeface="Arial"/>
                <a:cs typeface="Arial"/>
              </a:rPr>
              <a:t>Giới hạn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4CAADB-C6D3-47E2-BEA6-6A82D174C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238375"/>
            <a:ext cx="4810125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350">
                <a:solidFill>
                  <a:srgbClr val="17312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marL="228600" indent="-114300">
              <a:spcAft>
                <a:spcPts val="1200"/>
              </a:spcAft>
              <a:buChar char="•"/>
              <a:defRPr sz="1350">
                <a:solidFill>
                  <a:srgbClr val="17312C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17312C"/>
                </a:solidFill>
                <a:latin typeface="Arial"/>
                <a:ea typeface="Arial"/>
                <a:cs typeface="Arial"/>
              </a:rPr>
              <a:t>DoH/DoT, VPN, IP trực tiếp và DNS cache vẫn có thể vượt bộ lọc.</a:t>
            </a:r>
          </a:p>
          <a:p xmlns:a="http://schemas.openxmlformats.org/drawingml/2006/main">
            <a:pPr marL="228600" indent="-114300">
              <a:spcAft>
                <a:spcPts val="1200"/>
              </a:spcAft>
              <a:buChar char="•"/>
              <a:defRPr sz="1350">
                <a:solidFill>
                  <a:srgbClr val="17312C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17312C"/>
                </a:solidFill>
                <a:latin typeface="Arial"/>
                <a:ea typeface="Arial"/>
                <a:cs typeface="Arial"/>
              </a:rPr>
              <a:t>Chưa có WFP/firewall và chưa xử lý nhiều phiên Windows đồng thời.</a:t>
            </a:r>
          </a:p>
          <a:p xmlns:a="http://schemas.openxmlformats.org/drawingml/2006/main">
            <a:pPr marL="228600" indent="-114300">
              <a:spcAft>
                <a:spcPts val="1200"/>
              </a:spcAft>
              <a:buChar char="•"/>
              <a:defRPr sz="1350">
                <a:solidFill>
                  <a:srgbClr val="17312C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17312C"/>
                </a:solidFill>
                <a:latin typeface="Arial"/>
                <a:ea typeface="Arial"/>
                <a:cs typeface="Arial"/>
              </a:rPr>
              <a:t>Dataset 311 miền cần người rà soát trước khi tuyên bố độ an toàn nội dung.</a:t>
            </a:r>
          </a:p>
          <a:p xmlns:a="http://schemas.openxmlformats.org/drawingml/2006/main">
            <a:pPr marL="228600" indent="-114300">
              <a:spcAft>
                <a:spcPts val="1200"/>
              </a:spcAft>
              <a:buChar char="•"/>
              <a:defRPr sz="1350">
                <a:solidFill>
                  <a:srgbClr val="17312C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17312C"/>
                </a:solidFill>
                <a:latin typeface="Arial"/>
                <a:ea typeface="Arial"/>
                <a:cs typeface="Arial"/>
              </a:rPr>
              <a:t>Cần nghiệm thu terminate app, DNS adapter, browser policy và khóa máy trên Windows thật.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681DB2-8A88-48AB-A6E4-F0293C834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772150"/>
            <a:ext cx="10639425" cy="504825"/>
          </a:xfrm>
          <a:prstGeom xmlns:a="http://schemas.openxmlformats.org/drawingml/2006/main" prst="roundRect">
            <a:avLst>
              <a:gd name="adj" fmla="val 22642"/>
            </a:avLst>
          </a:prstGeom>
          <a:solidFill xmlns:a="http://schemas.openxmlformats.org/drawingml/2006/main">
            <a:srgbClr val="1035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194F059-AF5A-47F4-A3DC-88E602DAB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905500"/>
            <a:ext cx="101441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1897"/>
          </a:bodyPr>
          <a:lstStyle xmlns:a="http://schemas.openxmlformats.org/drawingml/2006/main">
            <a:def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Kết luận: kiến trúc và các luồng chính đã khép kín trong môi trường lab; bước tiếp theo tập trung vào chống bypass và nghiệm thu hệ điều hành thật.</a:t>
            </a:r>
          </a:p>
        </p:txBody>
      </p:sp>
    </p:spTree>
    <p:extLst>
      <p:ext uri="{BB962C8B-B14F-4D97-AF65-F5344CB8AC3E}">
        <p14:creationId xmlns:p14="http://schemas.microsoft.com/office/powerpoint/2010/main" val="116537851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2026-10-12T13:00:48.5280000Z</dcterms:created>
  <dcterms:modified xsi:type="dcterms:W3CDTF">2026-10-12T13:00:48.5280000Z</dcterms:modified>
</coreProperties>
</file>