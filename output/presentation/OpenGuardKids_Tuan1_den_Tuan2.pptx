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9" r:id="rId12"/>
    <p:sldId id="268" r:id="rId13"/>
    <p:sldId id="267" r:id="rId14"/>
    <p:sldId id="270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901" autoAdjust="0"/>
  </p:normalViewPr>
  <p:slideViewPr>
    <p:cSldViewPr snapToGrid="0">
      <p:cViewPr varScale="1">
        <p:scale>
          <a:sx n="47" d="100"/>
          <a:sy n="47" d="100"/>
        </p:scale>
        <p:origin x="13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README.md, docs/WEEK2_F4.md và docs/WEEK3_HANDOFF.md trong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README.md và lịch sử mốc trong docs/HANDOFF.md.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agent/windows_service.py, agent/tray_ui.py, agent/core.py và docs/LOCAL_IPC.md.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docs/ARCHITECTURE.md. Sơ đồ phản ánh repository cuối Tuần 2, không phải kiến trúc production đích.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1BB9B-31D7-B86C-F63F-0F4C6AD31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E84DC-B4A9-F190-135C-6643ABFF0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E2400C-3762-501F-9F66-E3B352C7A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SSE là Server-Sent Events</a:t>
            </a:r>
            <a:r>
              <a:rPr lang="vi-VN" dirty="0"/>
              <a:t>, cơ chế cho phép </a:t>
            </a:r>
            <a:r>
              <a:rPr lang="vi-VN" b="1" dirty="0"/>
              <a:t>server chủ động gửi thông báo xuống trình duyệt qua một kết nối HTTP được giữ mở</a:t>
            </a:r>
            <a:r>
              <a:rPr lang="vi-VN" dirty="0"/>
              <a:t>.</a:t>
            </a:r>
            <a:endParaRPr lang="en-GB" dirty="0"/>
          </a:p>
          <a:p>
            <a:r>
              <a:rPr lang="vi-VN" dirty="0"/>
              <a:t>Trong dự án, SSE giúp </a:t>
            </a:r>
            <a:r>
              <a:rPr lang="vi-VN" b="1" dirty="0"/>
              <a:t>dashboard phụ huynh tự cập nhật mà không cần bấm tải lại trang</a:t>
            </a:r>
            <a:r>
              <a:rPr lang="vi-VN" dirty="0"/>
              <a:t>.</a:t>
            </a:r>
            <a:endParaRPr lang="en-GB" dirty="0"/>
          </a:p>
          <a:p>
            <a:endParaRPr lang="vi-VN" dirty="0"/>
          </a:p>
          <a:p>
            <a:r>
              <a:rPr lang="vi-VN" dirty="0"/>
              <a:t>Ví dụ khi trẻ xin thêm 15 phút:</a:t>
            </a:r>
            <a:endParaRPr lang="en-GB" dirty="0"/>
          </a:p>
          <a:p>
            <a:endParaRPr lang="vi-VN" dirty="0"/>
          </a:p>
          <a:p>
            <a:pPr lvl="2"/>
            <a:r>
              <a:rPr lang="vi-VN" dirty="0"/>
              <a:t>Tray gửi yêu cầu qua Service lên server.</a:t>
            </a:r>
          </a:p>
          <a:p>
            <a:pPr lvl="2"/>
            <a:r>
              <a:rPr lang="vi-VN" dirty="0"/>
              <a:t>Server lưu yêu cầu và gửi </a:t>
            </a:r>
            <a:r>
              <a:rPr lang="vi-VN" b="1" dirty="0"/>
              <a:t>thông báo có thay đổi</a:t>
            </a:r>
            <a:r>
              <a:rPr lang="vi-VN" dirty="0"/>
              <a:t> qua SSE xuống dashboard.</a:t>
            </a:r>
          </a:p>
          <a:p>
            <a:pPr lvl="2"/>
            <a:r>
              <a:rPr lang="vi-VN" dirty="0"/>
              <a:t>Dashboard gọi API lấy dữ liệu mới rồi hiển thị yêu cầu.</a:t>
            </a:r>
          </a:p>
          <a:p>
            <a:pPr lvl="2"/>
            <a:r>
              <a:rPr lang="vi-VN" dirty="0"/>
              <a:t>Phụ huynh thấy yêu cầu và có thể duyệt ngay.</a:t>
            </a:r>
          </a:p>
          <a:p>
            <a:endParaRPr lang="en-GB" dirty="0"/>
          </a:p>
          <a:p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Trong repo, Service </a:t>
            </a:r>
            <a:r>
              <a:rPr lang="en-GB" dirty="0" err="1"/>
              <a:t>dùng</a:t>
            </a:r>
            <a:r>
              <a:rPr lang="en-GB" dirty="0"/>
              <a:t> HTTP </a:t>
            </a:r>
            <a:r>
              <a:rPr lang="en-GB" dirty="0" err="1"/>
              <a:t>để</a:t>
            </a:r>
            <a:r>
              <a:rPr lang="en-GB" dirty="0"/>
              <a:t> </a:t>
            </a:r>
            <a:r>
              <a:rPr lang="en-GB" dirty="0" err="1"/>
              <a:t>ghép</a:t>
            </a:r>
            <a:r>
              <a:rPr lang="en-GB" dirty="0"/>
              <a:t> </a:t>
            </a:r>
            <a:r>
              <a:rPr lang="en-GB" dirty="0" err="1"/>
              <a:t>đôi</a:t>
            </a:r>
            <a:r>
              <a:rPr lang="en-GB" dirty="0"/>
              <a:t> </a:t>
            </a:r>
            <a:r>
              <a:rPr lang="en-GB" dirty="0" err="1"/>
              <a:t>thiết</a:t>
            </a:r>
            <a:r>
              <a:rPr lang="en-GB" dirty="0"/>
              <a:t> </a:t>
            </a:r>
            <a:r>
              <a:rPr lang="en-GB" dirty="0" err="1"/>
              <a:t>bị</a:t>
            </a:r>
            <a:r>
              <a:rPr lang="en-GB" dirty="0"/>
              <a:t>, </a:t>
            </a:r>
            <a:r>
              <a:rPr lang="en-GB" dirty="0" err="1"/>
              <a:t>tải</a:t>
            </a:r>
            <a:r>
              <a:rPr lang="en-GB" dirty="0"/>
              <a:t> </a:t>
            </a:r>
            <a:r>
              <a:rPr lang="en-GB" dirty="0" err="1"/>
              <a:t>chính</a:t>
            </a:r>
            <a:r>
              <a:rPr lang="en-GB" dirty="0"/>
              <a:t> </a:t>
            </a:r>
            <a:r>
              <a:rPr lang="en-GB" dirty="0" err="1"/>
              <a:t>sách</a:t>
            </a:r>
            <a:r>
              <a:rPr lang="en-GB" dirty="0"/>
              <a:t>, </a:t>
            </a:r>
            <a:r>
              <a:rPr lang="en-GB" dirty="0" err="1"/>
              <a:t>gửi</a:t>
            </a:r>
            <a:r>
              <a:rPr lang="en-GB" dirty="0"/>
              <a:t> heartbeat, </a:t>
            </a:r>
            <a:r>
              <a:rPr lang="en-GB" dirty="0" err="1"/>
              <a:t>gửi</a:t>
            </a:r>
            <a:r>
              <a:rPr lang="en-GB" dirty="0"/>
              <a:t> </a:t>
            </a:r>
            <a:r>
              <a:rPr lang="en-GB" dirty="0" err="1"/>
              <a:t>yêu</a:t>
            </a:r>
            <a:r>
              <a:rPr lang="en-GB" dirty="0"/>
              <a:t> </a:t>
            </a:r>
            <a:r>
              <a:rPr lang="en-GB" dirty="0" err="1"/>
              <a:t>cầu</a:t>
            </a:r>
            <a:r>
              <a:rPr lang="en-GB" dirty="0"/>
              <a:t> </a:t>
            </a:r>
            <a:r>
              <a:rPr lang="en-GB" dirty="0" err="1"/>
              <a:t>xin</a:t>
            </a:r>
            <a:r>
              <a:rPr lang="en-GB" dirty="0"/>
              <a:t> </a:t>
            </a:r>
            <a:r>
              <a:rPr lang="en-GB" dirty="0" err="1"/>
              <a:t>giờ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làm</a:t>
            </a:r>
            <a:r>
              <a:rPr lang="en-GB" dirty="0"/>
              <a:t> </a:t>
            </a:r>
            <a:r>
              <a:rPr lang="en-GB" dirty="0" err="1"/>
              <a:t>mới</a:t>
            </a:r>
            <a:r>
              <a:rPr lang="en-GB" dirty="0"/>
              <a:t> token.</a:t>
            </a:r>
          </a:p>
          <a:p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4713C-ECD3-0001-CE24-77B9F1A57D0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4040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docs/WEEK2_F4.md và scripts/Setup-OGKAgent.ps1.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kết quả pytest hiện tại và docs/WEEK2_F4.md. Còn 1 cảnh báo deprecation của Starlette TestClient.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phiên kiểm thử ngày 04/10/2026 và docs/F1_TESTING.md.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README.md, docs/WEEK3_HANDOFF.md, docs/PRIVACY.md và docs/THREATMODEL.md.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Schema tối thiểu</a:t>
            </a:r>
            <a:r>
              <a:rPr lang="vi-VN" dirty="0"/>
              <a:t> là quy định một event ít nhất phải có những trường dữ liệu nào. </a:t>
            </a: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1" dirty="0"/>
              <a:t>Outbox</a:t>
            </a:r>
            <a:r>
              <a:rPr lang="vi-VN" dirty="0"/>
              <a:t> là cơ chế lưu event tạm ở máy trẻ em trước khi gửi server. Ví dụ Internet bị mất: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Idempotency</a:t>
            </a:r>
            <a:r>
              <a:rPr lang="en-GB" dirty="0"/>
              <a:t> </a:t>
            </a:r>
            <a:r>
              <a:rPr lang="en-GB" dirty="0" err="1"/>
              <a:t>nghĩa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cùng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event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gửi</a:t>
            </a:r>
            <a:r>
              <a:rPr lang="en-GB" dirty="0"/>
              <a:t> </a:t>
            </a:r>
            <a:r>
              <a:rPr lang="en-GB" dirty="0" err="1"/>
              <a:t>lại</a:t>
            </a:r>
            <a:r>
              <a:rPr lang="en-GB" dirty="0"/>
              <a:t> </a:t>
            </a:r>
            <a:r>
              <a:rPr lang="en-GB" dirty="0" err="1"/>
              <a:t>nhiều</a:t>
            </a:r>
            <a:r>
              <a:rPr lang="en-GB" dirty="0"/>
              <a:t> </a:t>
            </a:r>
            <a:r>
              <a:rPr lang="en-GB" dirty="0" err="1"/>
              <a:t>lần</a:t>
            </a:r>
            <a:r>
              <a:rPr lang="en-GB" dirty="0"/>
              <a:t> </a:t>
            </a:r>
            <a:r>
              <a:rPr lang="en-GB" dirty="0" err="1"/>
              <a:t>thì</a:t>
            </a:r>
            <a:r>
              <a:rPr lang="en-GB" dirty="0"/>
              <a:t> server </a:t>
            </a:r>
            <a:r>
              <a:rPr lang="en-GB" dirty="0" err="1"/>
              <a:t>vẫn</a:t>
            </a:r>
            <a:r>
              <a:rPr lang="en-GB" dirty="0"/>
              <a:t> </a:t>
            </a:r>
            <a:r>
              <a:rPr lang="en-GB" dirty="0" err="1"/>
              <a:t>chỉ</a:t>
            </a:r>
            <a:r>
              <a:rPr lang="en-GB" dirty="0"/>
              <a:t> </a:t>
            </a:r>
            <a:r>
              <a:rPr lang="en-GB" dirty="0" err="1"/>
              <a:t>xử</a:t>
            </a:r>
            <a:r>
              <a:rPr lang="en-GB" dirty="0"/>
              <a:t> </a:t>
            </a:r>
            <a:r>
              <a:rPr lang="en-GB" dirty="0" err="1"/>
              <a:t>lý</a:t>
            </a:r>
            <a:r>
              <a:rPr lang="en-GB" dirty="0"/>
              <a:t> </a:t>
            </a:r>
            <a:r>
              <a:rPr lang="en-GB" b="1" dirty="0" err="1"/>
              <a:t>một</a:t>
            </a:r>
            <a:r>
              <a:rPr lang="en-GB" b="1" dirty="0"/>
              <a:t> </a:t>
            </a:r>
            <a:r>
              <a:rPr lang="en-GB" b="1" dirty="0" err="1"/>
              <a:t>lần</a:t>
            </a:r>
            <a:r>
              <a:rPr lang="en-GB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1" dirty="0"/>
              <a:t>Retention contract</a:t>
            </a:r>
            <a:r>
              <a:rPr lang="vi-VN" dirty="0"/>
              <a:t> là quy định dữ liệu được giữ bao lâu và khi nào bị xóa.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Process metadata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thông</a:t>
            </a:r>
            <a:r>
              <a:rPr lang="en-GB" dirty="0"/>
              <a:t> tin </a:t>
            </a:r>
            <a:r>
              <a:rPr lang="en-GB" dirty="0" err="1"/>
              <a:t>mô</a:t>
            </a:r>
            <a:r>
              <a:rPr lang="en-GB" dirty="0"/>
              <a:t> </a:t>
            </a:r>
            <a:r>
              <a:rPr lang="en-GB" dirty="0" err="1"/>
              <a:t>tả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process </a:t>
            </a:r>
            <a:r>
              <a:rPr lang="en-GB" dirty="0" err="1"/>
              <a:t>đang</a:t>
            </a:r>
            <a:r>
              <a:rPr lang="en-GB" dirty="0"/>
              <a:t> </a:t>
            </a:r>
            <a:r>
              <a:rPr lang="en-GB" dirty="0" err="1"/>
              <a:t>chạy</a:t>
            </a:r>
            <a:r>
              <a:rPr lang="en-GB" dirty="0"/>
              <a:t> </a:t>
            </a:r>
            <a:r>
              <a:rPr lang="en-GB" dirty="0" err="1"/>
              <a:t>trên</a:t>
            </a:r>
            <a:r>
              <a:rPr lang="en-GB" dirty="0"/>
              <a:t> Windows.</a:t>
            </a:r>
          </a:p>
          <a:p>
            <a:endParaRPr lang="en-GB" dirty="0"/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E7B69-A203-E4AE-7643-44DC1D744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7441AB-9366-B9D2-888B-026CEE967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62BA6B-BAE2-C177-4AE5-4008A9BA0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Schema tối thiểu</a:t>
            </a:r>
            <a:r>
              <a:rPr lang="vi-VN" dirty="0"/>
              <a:t> là quy định một event ít nhất phải có những trường dữ liệu nào. </a:t>
            </a: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1" dirty="0"/>
              <a:t>Outbox</a:t>
            </a:r>
            <a:r>
              <a:rPr lang="vi-VN" dirty="0"/>
              <a:t> là cơ chế lưu event tạm ở máy trẻ em trước khi gửi server. Ví dụ Internet bị mất: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Idempotency</a:t>
            </a:r>
            <a:r>
              <a:rPr lang="en-GB" dirty="0"/>
              <a:t> </a:t>
            </a:r>
            <a:r>
              <a:rPr lang="en-GB" dirty="0" err="1"/>
              <a:t>nghĩa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cùng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event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gửi</a:t>
            </a:r>
            <a:r>
              <a:rPr lang="en-GB" dirty="0"/>
              <a:t> </a:t>
            </a:r>
            <a:r>
              <a:rPr lang="en-GB" dirty="0" err="1"/>
              <a:t>lại</a:t>
            </a:r>
            <a:r>
              <a:rPr lang="en-GB" dirty="0"/>
              <a:t> </a:t>
            </a:r>
            <a:r>
              <a:rPr lang="en-GB" dirty="0" err="1"/>
              <a:t>nhiều</a:t>
            </a:r>
            <a:r>
              <a:rPr lang="en-GB" dirty="0"/>
              <a:t> </a:t>
            </a:r>
            <a:r>
              <a:rPr lang="en-GB" dirty="0" err="1"/>
              <a:t>lần</a:t>
            </a:r>
            <a:r>
              <a:rPr lang="en-GB" dirty="0"/>
              <a:t> </a:t>
            </a:r>
            <a:r>
              <a:rPr lang="en-GB" dirty="0" err="1"/>
              <a:t>thì</a:t>
            </a:r>
            <a:r>
              <a:rPr lang="en-GB" dirty="0"/>
              <a:t> server </a:t>
            </a:r>
            <a:r>
              <a:rPr lang="en-GB" dirty="0" err="1"/>
              <a:t>vẫn</a:t>
            </a:r>
            <a:r>
              <a:rPr lang="en-GB" dirty="0"/>
              <a:t> </a:t>
            </a:r>
            <a:r>
              <a:rPr lang="en-GB" dirty="0" err="1"/>
              <a:t>chỉ</a:t>
            </a:r>
            <a:r>
              <a:rPr lang="en-GB" dirty="0"/>
              <a:t> </a:t>
            </a:r>
            <a:r>
              <a:rPr lang="en-GB" dirty="0" err="1"/>
              <a:t>xử</a:t>
            </a:r>
            <a:r>
              <a:rPr lang="en-GB" dirty="0"/>
              <a:t> </a:t>
            </a:r>
            <a:r>
              <a:rPr lang="en-GB" dirty="0" err="1"/>
              <a:t>lý</a:t>
            </a:r>
            <a:r>
              <a:rPr lang="en-GB" dirty="0"/>
              <a:t> </a:t>
            </a:r>
            <a:r>
              <a:rPr lang="en-GB" b="1" dirty="0" err="1"/>
              <a:t>một</a:t>
            </a:r>
            <a:r>
              <a:rPr lang="en-GB" b="1" dirty="0"/>
              <a:t> </a:t>
            </a:r>
            <a:r>
              <a:rPr lang="en-GB" b="1" dirty="0" err="1"/>
              <a:t>lần</a:t>
            </a:r>
            <a:r>
              <a:rPr lang="en-GB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1" dirty="0"/>
              <a:t>Retention contract</a:t>
            </a:r>
            <a:r>
              <a:rPr lang="vi-VN" dirty="0"/>
              <a:t> là quy định dữ liệu được giữ bao lâu và khi nào bị xóa.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Process metadata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thông</a:t>
            </a:r>
            <a:r>
              <a:rPr lang="en-GB" dirty="0"/>
              <a:t> tin </a:t>
            </a:r>
            <a:r>
              <a:rPr lang="en-GB" dirty="0" err="1"/>
              <a:t>mô</a:t>
            </a:r>
            <a:r>
              <a:rPr lang="en-GB" dirty="0"/>
              <a:t> </a:t>
            </a:r>
            <a:r>
              <a:rPr lang="en-GB" dirty="0" err="1"/>
              <a:t>tả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process </a:t>
            </a:r>
            <a:r>
              <a:rPr lang="en-GB" dirty="0" err="1"/>
              <a:t>đang</a:t>
            </a:r>
            <a:r>
              <a:rPr lang="en-GB" dirty="0"/>
              <a:t> </a:t>
            </a:r>
            <a:r>
              <a:rPr lang="en-GB" dirty="0" err="1"/>
              <a:t>chạy</a:t>
            </a:r>
            <a:r>
              <a:rPr lang="en-GB" dirty="0"/>
              <a:t> </a:t>
            </a:r>
            <a:r>
              <a:rPr lang="en-GB" dirty="0" err="1"/>
              <a:t>trên</a:t>
            </a:r>
            <a:r>
              <a:rPr lang="en-GB" dirty="0"/>
              <a:t> Windows.</a:t>
            </a:r>
          </a:p>
          <a:p>
            <a:endParaRPr lang="en-GB" dirty="0"/>
          </a:p>
          <a:p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6FBD0-CE59-0A0F-1681-6B5D79E318F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89857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README.md và docs/WEEK3_HANDOFF.md. Cleanup database là thao tác không thể hoàn tác.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FD85AD-CA7A-48FA-A6D0-A503213469AD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114300" cy="3381375"/>
          </a:xfrm>
          <a:prstGeom prst="rect">
            <a:avLst/>
          </a:prstGeom>
          <a:solidFill>
            <a:srgbClr val="18A999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AF2294-1AF1-4273-B1A2-E271426C0424}"/>
              </a:ext>
            </a:extLst>
          </p:cNvPr>
          <p:cNvSpPr>
            <a:spLocks noGrp="1"/>
          </p:cNvSpPr>
          <p:nvPr/>
        </p:nvSpPr>
        <p:spPr>
          <a:xfrm>
            <a:off x="1123950" y="2190750"/>
            <a:ext cx="93345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4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650" b="1" dirty="0" err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OpenGuard</a:t>
            </a:r>
            <a:r>
              <a:rPr sz="4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Kids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FC0675-C9D9-4BE8-90B0-07DA2257465B}"/>
              </a:ext>
            </a:extLst>
          </p:cNvPr>
          <p:cNvSpPr>
            <a:spLocks noGrp="1"/>
          </p:cNvSpPr>
          <p:nvPr/>
        </p:nvSpPr>
        <p:spPr>
          <a:xfrm>
            <a:off x="1123950" y="3219450"/>
            <a:ext cx="88582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550" b="0">
                <a:solidFill>
                  <a:srgbClr val="D7E9E6"/>
                </a:solidFill>
                <a:latin typeface="Segoe UI"/>
                <a:ea typeface="Segoe UI"/>
                <a:cs typeface="Segoe UI"/>
              </a:defRPr>
            </a:pPr>
            <a:r>
              <a:rPr lang="en-GB" sz="2550" b="0" dirty="0">
                <a:solidFill>
                  <a:srgbClr val="D7E9E6"/>
                </a:solidFill>
                <a:latin typeface="Segoe UI"/>
                <a:ea typeface="Segoe UI"/>
                <a:cs typeface="Segoe UI"/>
              </a:rPr>
              <a:t>Tiến </a:t>
            </a:r>
            <a:r>
              <a:rPr lang="en-GB" sz="2550" b="0" dirty="0" err="1">
                <a:solidFill>
                  <a:srgbClr val="D7E9E6"/>
                </a:solidFill>
                <a:latin typeface="Segoe UI"/>
                <a:ea typeface="Segoe UI"/>
                <a:cs typeface="Segoe UI"/>
              </a:rPr>
              <a:t>hóa</a:t>
            </a:r>
            <a:r>
              <a:rPr sz="2550" b="0" dirty="0">
                <a:solidFill>
                  <a:srgbClr val="D7E9E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550" b="0" dirty="0" err="1">
                <a:solidFill>
                  <a:srgbClr val="D7E9E6"/>
                </a:solidFill>
                <a:latin typeface="Segoe UI"/>
                <a:ea typeface="Segoe UI"/>
                <a:cs typeface="Segoe UI"/>
              </a:rPr>
              <a:t>hệ</a:t>
            </a:r>
            <a:r>
              <a:rPr sz="2550" b="0" dirty="0">
                <a:solidFill>
                  <a:srgbClr val="D7E9E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550" b="0" dirty="0" err="1">
                <a:solidFill>
                  <a:srgbClr val="D7E9E6"/>
                </a:solidFill>
                <a:latin typeface="Segoe UI"/>
                <a:ea typeface="Segoe UI"/>
                <a:cs typeface="Segoe UI"/>
              </a:rPr>
              <a:t>thống</a:t>
            </a:r>
            <a:r>
              <a:rPr sz="2550" b="0" dirty="0">
                <a:solidFill>
                  <a:srgbClr val="D7E9E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550" b="0" dirty="0" err="1">
                <a:solidFill>
                  <a:srgbClr val="D7E9E6"/>
                </a:solidFill>
                <a:latin typeface="Segoe UI"/>
                <a:ea typeface="Segoe UI"/>
                <a:cs typeface="Segoe UI"/>
              </a:rPr>
              <a:t>từ</a:t>
            </a:r>
            <a:r>
              <a:rPr sz="2550" b="0" dirty="0">
                <a:solidFill>
                  <a:srgbClr val="D7E9E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550" b="0" dirty="0" err="1">
                <a:solidFill>
                  <a:srgbClr val="D7E9E6"/>
                </a:solidFill>
                <a:latin typeface="Segoe UI"/>
                <a:ea typeface="Segoe UI"/>
                <a:cs typeface="Segoe UI"/>
              </a:rPr>
              <a:t>Tuần</a:t>
            </a:r>
            <a:r>
              <a:rPr sz="2550" b="0" dirty="0">
                <a:solidFill>
                  <a:srgbClr val="D7E9E6"/>
                </a:solidFill>
                <a:latin typeface="Segoe UI"/>
                <a:ea typeface="Segoe UI"/>
                <a:cs typeface="Segoe UI"/>
              </a:rPr>
              <a:t> 1 </a:t>
            </a:r>
            <a:r>
              <a:rPr sz="2550" b="0" dirty="0" err="1">
                <a:solidFill>
                  <a:srgbClr val="D7E9E6"/>
                </a:solidFill>
                <a:latin typeface="Segoe UI"/>
                <a:ea typeface="Segoe UI"/>
                <a:cs typeface="Segoe UI"/>
              </a:rPr>
              <a:t>đến</a:t>
            </a:r>
            <a:r>
              <a:rPr sz="2550" b="0" dirty="0">
                <a:solidFill>
                  <a:srgbClr val="D7E9E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550" b="0" dirty="0" err="1">
                <a:solidFill>
                  <a:srgbClr val="D7E9E6"/>
                </a:solidFill>
                <a:latin typeface="Segoe UI"/>
                <a:ea typeface="Segoe UI"/>
                <a:cs typeface="Segoe UI"/>
              </a:rPr>
              <a:t>Tuần</a:t>
            </a:r>
            <a:r>
              <a:rPr sz="2550" b="0" dirty="0">
                <a:solidFill>
                  <a:srgbClr val="D7E9E6"/>
                </a:solidFill>
                <a:latin typeface="Segoe UI"/>
                <a:ea typeface="Segoe UI"/>
                <a:cs typeface="Segoe UI"/>
              </a:rPr>
              <a:t>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5B47D7-319F-499F-B579-6624105848A1}"/>
              </a:ext>
            </a:extLst>
          </p:cNvPr>
          <p:cNvSpPr>
            <a:spLocks noGrp="1"/>
          </p:cNvSpPr>
          <p:nvPr/>
        </p:nvSpPr>
        <p:spPr>
          <a:xfrm>
            <a:off x="1123950" y="3105150"/>
            <a:ext cx="85725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0">
                <a:solidFill>
                  <a:srgbClr val="9FD7D0"/>
                </a:solidFill>
                <a:latin typeface="Segoe UI"/>
                <a:ea typeface="Segoe UI"/>
                <a:cs typeface="Segoe UI"/>
              </a:defRPr>
            </a:pPr>
            <a:endParaRPr sz="1725" b="0" dirty="0">
              <a:solidFill>
                <a:srgbClr val="9FD7D0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666350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E2DC219-CA37-42E6-A693-530361FD1C3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123B5D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23B5D"/>
                </a:solidFill>
                <a:latin typeface="Segoe UI"/>
                <a:ea typeface="Segoe UI"/>
                <a:cs typeface="Segoe UI"/>
              </a:rPr>
              <a:t>Tuần 1 đặt nền móng client-server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CB439400-85E8-4B83-A4A7-5B888A908BFF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0972800" cy="0"/>
          </a:xfrm>
          <a:prstGeom prst="line">
            <a:avLst/>
          </a:prstGeom>
          <a:noFill/>
          <a:ln w="9525">
            <a:solidFill>
              <a:srgbClr val="C9D8D4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BB09D5-A43F-4029-9660-B3B0F098CB3D}"/>
              </a:ext>
            </a:extLst>
          </p:cNvPr>
          <p:cNvSpPr>
            <a:spLocks noGrp="1"/>
          </p:cNvSpPr>
          <p:nvPr/>
        </p:nvSpPr>
        <p:spPr>
          <a:xfrm>
            <a:off x="10953750" y="457200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r">
              <a:defRPr sz="1350" b="1">
                <a:solidFill>
                  <a:srgbClr val="18A999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8A999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B7A20D-5AC4-4E90-AA34-C0F1747CBEF9}"/>
              </a:ext>
            </a:extLst>
          </p:cNvPr>
          <p:cNvSpPr>
            <a:spLocks noGrp="1"/>
          </p:cNvSpPr>
          <p:nvPr/>
        </p:nvSpPr>
        <p:spPr>
          <a:xfrm>
            <a:off x="647700" y="1352550"/>
            <a:ext cx="1619250" cy="1200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7200" b="1">
                <a:solidFill>
                  <a:srgbClr val="CFE7E2"/>
                </a:solidFill>
                <a:latin typeface="Segoe UI"/>
                <a:ea typeface="Segoe UI"/>
                <a:cs typeface="Segoe UI"/>
              </a:defRPr>
            </a:pPr>
            <a:r>
              <a:rPr sz="7200" b="1">
                <a:solidFill>
                  <a:srgbClr val="CFE7E2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C835F5-CB55-43BD-8226-E220EF8431EB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1">
                <a:solidFill>
                  <a:srgbClr val="0F766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Mục tiêu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0050D4-EDA8-44E8-B269-284B9DFE018A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20955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Một luồng tối thiểu chạy được từ phụ huynh đến server và agent mô phỏng.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A0A8536-C2AD-416E-88A7-8BADA986C24B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1952625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Dashboard</a:t>
            </a:r>
          </a:p>
          <a:p>
            <a:pPr algn="ctr">
              <a:defRPr sz="165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phụ huynh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6B3804-E9C3-40B2-A587-EDB819C61D6B}"/>
              </a:ext>
            </a:extLst>
          </p:cNvPr>
          <p:cNvSpPr>
            <a:spLocks noGrp="1"/>
          </p:cNvSpPr>
          <p:nvPr/>
        </p:nvSpPr>
        <p:spPr>
          <a:xfrm>
            <a:off x="6419850" y="1809750"/>
            <a:ext cx="2286000" cy="914400"/>
          </a:xfrm>
          <a:prstGeom prst="roundRect">
            <a:avLst>
              <a:gd name="adj" fmla="val 14583"/>
            </a:avLst>
          </a:prstGeom>
          <a:solidFill>
            <a:srgbClr val="EAF6F4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FastAPI</a:t>
            </a:r>
          </a:p>
          <a:p>
            <a:pPr algn="ctr">
              <a:defRPr sz="165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Auth, enroll, policy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FE22E30-A24A-4B83-A886-D054DBC48941}"/>
              </a:ext>
            </a:extLst>
          </p:cNvPr>
          <p:cNvSpPr>
            <a:spLocks noGrp="1"/>
          </p:cNvSpPr>
          <p:nvPr/>
        </p:nvSpPr>
        <p:spPr>
          <a:xfrm>
            <a:off x="9667875" y="1809750"/>
            <a:ext cx="152400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4288">
            <a:solidFill>
              <a:srgbClr val="123B5D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SQLite</a:t>
            </a:r>
          </a:p>
          <a:p>
            <a:pPr algn="ctr">
              <a:defRPr sz="165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server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8AFCF1F-D99A-42C5-A477-6737CD74107B}"/>
              </a:ext>
            </a:extLst>
          </p:cNvPr>
          <p:cNvSpPr>
            <a:spLocks noGrp="1"/>
          </p:cNvSpPr>
          <p:nvPr/>
        </p:nvSpPr>
        <p:spPr>
          <a:xfrm>
            <a:off x="6419850" y="3829050"/>
            <a:ext cx="2286000" cy="914400"/>
          </a:xfrm>
          <a:prstGeom prst="roundRect">
            <a:avLst>
              <a:gd name="adj" fmla="val 14583"/>
            </a:avLst>
          </a:prstGeom>
          <a:solidFill>
            <a:srgbClr val="FFF2D9"/>
          </a:solidFill>
          <a:ln w="14288">
            <a:solidFill>
              <a:srgbClr val="D9770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Simulator console</a:t>
            </a:r>
          </a:p>
          <a:p>
            <a:pPr algn="ctr">
              <a:defRPr sz="165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heartbeat + cache</a:t>
            </a:r>
          </a:p>
        </p:txBody>
      </p:sp>
      <p:cxnSp>
        <p:nvCxnSpPr>
          <p:cNvPr id="26" name="Straight Arrow Connector 25"/>
          <p:cNvCxnSpPr>
            <a:stCxn id="7" idx="3"/>
            <a:endCxn id="8" idx="1"/>
          </p:cNvCxnSpPr>
          <p:nvPr/>
        </p:nvCxnSpPr>
        <p:spPr>
          <a:xfrm>
            <a:off x="5381625" y="2266950"/>
            <a:ext cx="1038225" cy="0"/>
          </a:xfrm>
          <a:prstGeom prst="straightConnector1">
            <a:avLst/>
          </a:prstGeom>
          <a:ln w="23813">
            <a:solidFill>
              <a:srgbClr val="18A999"/>
            </a:solidFill>
            <a:prstDash val="solid"/>
            <a:tailEnd type="triangle" w="sm" len="sm"/>
          </a:ln>
        </p:spPr>
      </p:cxnSp>
      <p:cxnSp>
        <p:nvCxnSpPr>
          <p:cNvPr id="27" name="Straight Arrow Connector 26"/>
          <p:cNvCxnSpPr>
            <a:stCxn id="8" idx="3"/>
            <a:endCxn id="9" idx="1"/>
          </p:cNvCxnSpPr>
          <p:nvPr/>
        </p:nvCxnSpPr>
        <p:spPr>
          <a:xfrm>
            <a:off x="8705850" y="2266950"/>
            <a:ext cx="962025" cy="0"/>
          </a:xfrm>
          <a:prstGeom prst="straightConnector1">
            <a:avLst/>
          </a:prstGeom>
          <a:ln w="23813">
            <a:solidFill>
              <a:srgbClr val="18A999"/>
            </a:solidFill>
            <a:prstDash val="solid"/>
            <a:tailEnd type="triangle" w="sm" len="sm"/>
          </a:ln>
        </p:spPr>
      </p:cxnSp>
      <p:cxnSp>
        <p:nvCxnSpPr>
          <p:cNvPr id="28" name="Straight Arrow Connector 27"/>
          <p:cNvCxnSpPr>
            <a:stCxn id="10" idx="0"/>
            <a:endCxn id="8" idx="2"/>
          </p:cNvCxnSpPr>
          <p:nvPr/>
        </p:nvCxnSpPr>
        <p:spPr>
          <a:xfrm flipV="1">
            <a:off x="7562850" y="2724150"/>
            <a:ext cx="0" cy="1104900"/>
          </a:xfrm>
          <a:prstGeom prst="straightConnector1">
            <a:avLst/>
          </a:prstGeom>
          <a:ln w="23813">
            <a:solidFill>
              <a:srgbClr val="D97706"/>
            </a:solidFill>
            <a:prstDash val="solid"/>
            <a:tailEnd type="triangle" w="sm" len="sm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75452BD-42A2-464A-A89F-839C4BE6051A}"/>
              </a:ext>
            </a:extLst>
          </p:cNvPr>
          <p:cNvSpPr>
            <a:spLocks noGrp="1"/>
          </p:cNvSpPr>
          <p:nvPr/>
        </p:nvSpPr>
        <p:spPr>
          <a:xfrm>
            <a:off x="3429000" y="518160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924" lnSpcReduction="10000"/>
          </a:bodyPr>
          <a:lstStyle/>
          <a:p>
            <a:pPr algn="l">
              <a:defRPr sz="1650" b="1">
                <a:solidFill>
                  <a:srgbClr val="123B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3B5D"/>
                </a:solidFill>
                <a:latin typeface="Segoe UI"/>
                <a:ea typeface="Segoe UI"/>
                <a:cs typeface="Segoe UI"/>
              </a:rPr>
              <a:t>Kết quả Tuần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ED7750-984D-43AD-871D-64C9F69814C0}"/>
              </a:ext>
            </a:extLst>
          </p:cNvPr>
          <p:cNvSpPr>
            <a:spLocks noGrp="1"/>
          </p:cNvSpPr>
          <p:nvPr/>
        </p:nvSpPr>
        <p:spPr>
          <a:xfrm>
            <a:off x="3429000" y="5562600"/>
            <a:ext cx="714375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Đăng nhập phụ huynh</a:t>
            </a:r>
          </a:p>
          <a:p>
            <a:pPr algn="l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Mã ghép đôi và token thiết bị</a:t>
            </a:r>
          </a:p>
          <a:p>
            <a:pPr algn="l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Heartbeat, policy cơ bản và dashboard</a:t>
            </a:r>
          </a:p>
        </p:txBody>
      </p:sp>
    </p:spTree>
    <p:extLst>
      <p:ext uri="{BB962C8B-B14F-4D97-AF65-F5344CB8AC3E}">
        <p14:creationId xmlns:p14="http://schemas.microsoft.com/office/powerpoint/2010/main" val="1506653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513F07D-6A04-4281-ADB1-71CCFFA3AE3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123B5D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23B5D"/>
                </a:solidFill>
                <a:latin typeface="Segoe UI"/>
                <a:ea typeface="Segoe UI"/>
                <a:cs typeface="Segoe UI"/>
              </a:rPr>
              <a:t>Tuần 2: từ simulator đến agent thật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D2FD4222-AB43-4BED-9144-64E98FAB3478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0972800" cy="0"/>
          </a:xfrm>
          <a:prstGeom prst="line">
            <a:avLst/>
          </a:prstGeom>
          <a:noFill/>
          <a:ln w="9525">
            <a:solidFill>
              <a:srgbClr val="C9D8D4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3397F6-227F-4E84-A0F6-9EEF4EFD1E33}"/>
              </a:ext>
            </a:extLst>
          </p:cNvPr>
          <p:cNvSpPr>
            <a:spLocks noGrp="1"/>
          </p:cNvSpPr>
          <p:nvPr/>
        </p:nvSpPr>
        <p:spPr>
          <a:xfrm>
            <a:off x="10953750" y="457200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r">
              <a:defRPr sz="1350" b="1">
                <a:solidFill>
                  <a:srgbClr val="18A999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8A999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207855-37B9-4416-9001-0D9E7AB1C5EE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950" b="1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Tuần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FED7FE-A6A0-4499-91B4-C4191D90A1B2}"/>
              </a:ext>
            </a:extLst>
          </p:cNvPr>
          <p:cNvSpPr>
            <a:spLocks noGrp="1"/>
          </p:cNvSpPr>
          <p:nvPr/>
        </p:nvSpPr>
        <p:spPr>
          <a:xfrm>
            <a:off x="7620000" y="1428750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950" b="1">
                <a:solidFill>
                  <a:srgbClr val="0F766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Tuần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C7BD60-9284-4F9E-B063-C2826D33C0B3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3143250" cy="1143000"/>
          </a:xfrm>
          <a:prstGeom prst="roundRect">
            <a:avLst>
              <a:gd name="adj" fmla="val 11667"/>
            </a:avLst>
          </a:prstGeom>
          <a:solidFill>
            <a:srgbClr val="E9EFED"/>
          </a:solidFill>
          <a:ln w="14288">
            <a:solidFill>
              <a:srgbClr val="B9C8C4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Simulator</a:t>
            </a:r>
          </a:p>
          <a:p>
            <a:pPr algn="ctr">
              <a:defRPr sz="1800" b="1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chạy trong console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31189A-8291-423B-9435-636A8641A4FE}"/>
              </a:ext>
            </a:extLst>
          </p:cNvPr>
          <p:cNvSpPr>
            <a:spLocks noGrp="1"/>
          </p:cNvSpPr>
          <p:nvPr/>
        </p:nvSpPr>
        <p:spPr>
          <a:xfrm>
            <a:off x="7620000" y="1952625"/>
            <a:ext cx="3143250" cy="990600"/>
          </a:xfrm>
          <a:prstGeom prst="roundRect">
            <a:avLst>
              <a:gd name="adj" fmla="val 13462"/>
            </a:avLst>
          </a:prstGeom>
          <a:solidFill>
            <a:srgbClr val="EAF6F4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Windows Service</a:t>
            </a:r>
          </a:p>
          <a:p>
            <a:pPr algn="ctr">
              <a:defRPr sz="18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LocalSystem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BC402EA-67F9-49A4-BC26-67C1AA017B4C}"/>
              </a:ext>
            </a:extLst>
          </p:cNvPr>
          <p:cNvSpPr>
            <a:spLocks noGrp="1"/>
          </p:cNvSpPr>
          <p:nvPr/>
        </p:nvSpPr>
        <p:spPr>
          <a:xfrm>
            <a:off x="7620000" y="3362325"/>
            <a:ext cx="314325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4288">
            <a:solidFill>
              <a:srgbClr val="123B5D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Tray UI</a:t>
            </a:r>
          </a:p>
          <a:p>
            <a:pPr algn="ctr">
              <a:defRPr sz="18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phiên người dùng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C889F1E-DDA3-456D-8712-2113737B5670}"/>
              </a:ext>
            </a:extLst>
          </p:cNvPr>
          <p:cNvSpPr>
            <a:spLocks noGrp="1"/>
          </p:cNvSpPr>
          <p:nvPr/>
        </p:nvSpPr>
        <p:spPr>
          <a:xfrm>
            <a:off x="5000625" y="2476500"/>
            <a:ext cx="1524000" cy="609600"/>
          </a:xfrm>
          <a:prstGeom prst="rightArrow">
            <a:avLst/>
          </a:prstGeom>
          <a:solidFill>
            <a:srgbClr val="18A999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 fontScale="92500" lnSpcReduction="20000"/>
          </a:bodyPr>
          <a:lstStyle/>
          <a:p>
            <a:endParaRPr/>
          </a:p>
        </p:txBody>
      </p:sp>
      <p:cxnSp>
        <p:nvCxnSpPr>
          <p:cNvPr id="23" name="Straight Arrow Connector 22"/>
          <p:cNvCxnSpPr>
            <a:stCxn id="7" idx="2"/>
            <a:endCxn id="8" idx="0"/>
          </p:cNvCxnSpPr>
          <p:nvPr/>
        </p:nvCxnSpPr>
        <p:spPr>
          <a:xfrm>
            <a:off x="9191625" y="2943225"/>
            <a:ext cx="0" cy="419100"/>
          </a:xfrm>
          <a:prstGeom prst="straightConnector1">
            <a:avLst/>
          </a:prstGeom>
          <a:ln w="23813">
            <a:solidFill>
              <a:srgbClr val="123B5D"/>
            </a:solidFill>
            <a:prstDash val="solid"/>
            <a:tailEnd type="triangle" w="sm" len="sm"/>
          </a:ln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CD2E900-5BFC-4EBD-A747-76E7BE32E1A6}"/>
              </a:ext>
            </a:extLst>
          </p:cNvPr>
          <p:cNvSpPr>
            <a:spLocks noGrp="1"/>
          </p:cNvSpPr>
          <p:nvPr/>
        </p:nvSpPr>
        <p:spPr>
          <a:xfrm>
            <a:off x="857250" y="3733800"/>
            <a:ext cx="3238500" cy="1238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Policy cache đơn giản</a:t>
            </a:r>
          </a:p>
          <a:p>
            <a:pPr algn="l">
              <a:defRPr sz="1650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Không khóa Windows</a:t>
            </a:r>
          </a:p>
          <a:p>
            <a:pPr algn="l">
              <a:defRPr sz="1650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Không có UI cho trẻ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A2F3AF-D931-44F7-9444-27FD567E096E}"/>
              </a:ext>
            </a:extLst>
          </p:cNvPr>
          <p:cNvSpPr>
            <a:spLocks noGrp="1"/>
          </p:cNvSpPr>
          <p:nvPr/>
        </p:nvSpPr>
        <p:spPr>
          <a:xfrm>
            <a:off x="7620000" y="4724400"/>
            <a:ext cx="3524250" cy="1447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75" b="0" dirty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Named pipe </a:t>
            </a:r>
            <a:r>
              <a:rPr sz="1575" b="0" dirty="0" err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cục</a:t>
            </a:r>
            <a:r>
              <a:rPr sz="1575" b="0" dirty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75" b="0" dirty="0" err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bộ</a:t>
            </a:r>
            <a:endParaRPr sz="1575" b="0" dirty="0">
              <a:solidFill>
                <a:srgbClr val="17324D"/>
              </a:solidFill>
              <a:latin typeface="Segoe UI"/>
              <a:ea typeface="Segoe UI"/>
              <a:cs typeface="Segoe UI"/>
            </a:endParaRPr>
          </a:p>
          <a:p>
            <a:pPr algn="l">
              <a:defRPr sz="15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75" b="0" dirty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Quota, </a:t>
            </a:r>
            <a:r>
              <a:rPr sz="1575" b="0" dirty="0" err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lịch</a:t>
            </a:r>
            <a:r>
              <a:rPr sz="1575" b="0" dirty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, grace, </a:t>
            </a:r>
            <a:r>
              <a:rPr sz="1575" b="0" dirty="0" err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khóa</a:t>
            </a:r>
            <a:endParaRPr sz="1575" b="0" dirty="0">
              <a:solidFill>
                <a:srgbClr val="17324D"/>
              </a:solidFill>
              <a:latin typeface="Segoe UI"/>
              <a:ea typeface="Segoe UI"/>
              <a:cs typeface="Segoe UI"/>
            </a:endParaRPr>
          </a:p>
          <a:p>
            <a:pPr algn="l">
              <a:defRPr sz="15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75" b="0" dirty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Policy </a:t>
            </a:r>
            <a:r>
              <a:rPr sz="1575" b="0" dirty="0" err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ký</a:t>
            </a:r>
            <a:r>
              <a:rPr sz="1575" b="0" dirty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 HMAC </a:t>
            </a:r>
            <a:r>
              <a:rPr sz="1575" b="0" dirty="0" err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và</a:t>
            </a:r>
            <a:r>
              <a:rPr sz="1575" b="0" dirty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 WebSocket</a:t>
            </a:r>
          </a:p>
          <a:p>
            <a:pPr algn="l">
              <a:defRPr sz="15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75" b="0" dirty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PIN </a:t>
            </a:r>
            <a:r>
              <a:rPr sz="1575" b="0" dirty="0" err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hồ</a:t>
            </a:r>
            <a:r>
              <a:rPr sz="1575" b="0" dirty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75" b="0" dirty="0" err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sơ</a:t>
            </a:r>
            <a:r>
              <a:rPr sz="1575" b="0" dirty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, request </a:t>
            </a:r>
            <a:r>
              <a:rPr sz="1575" b="0" dirty="0" err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xin</a:t>
            </a:r>
            <a:r>
              <a:rPr sz="1575" b="0" dirty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75" b="0" dirty="0" err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giờ</a:t>
            </a:r>
            <a:r>
              <a:rPr sz="1575" b="0" dirty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, audit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B4C109-877E-44EA-A3AD-B8FDEB6BD29D}"/>
              </a:ext>
            </a:extLst>
          </p:cNvPr>
          <p:cNvSpPr>
            <a:spLocks noGrp="1"/>
          </p:cNvSpPr>
          <p:nvPr/>
        </p:nvSpPr>
        <p:spPr>
          <a:xfrm>
            <a:off x="857250" y="5657850"/>
            <a:ext cx="61912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1">
                <a:solidFill>
                  <a:srgbClr val="123B5D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23B5D"/>
                </a:solidFill>
                <a:latin typeface="Segoe UI"/>
                <a:ea typeface="Segoe UI"/>
                <a:cs typeface="Segoe UI"/>
              </a:rPr>
              <a:t>Thay đổi cốt lõi: logic thực thi chuyển vào Service, còn thao tác với desktop nằm ở Tray.</a:t>
            </a:r>
          </a:p>
        </p:txBody>
      </p:sp>
    </p:spTree>
    <p:extLst>
      <p:ext uri="{BB962C8B-B14F-4D97-AF65-F5344CB8AC3E}">
        <p14:creationId xmlns:p14="http://schemas.microsoft.com/office/powerpoint/2010/main" val="75973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2A773C5-42A2-4182-96F2-1B26796CF17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123B5D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23B5D"/>
                </a:solidFill>
                <a:latin typeface="Segoe UI"/>
                <a:ea typeface="Segoe UI"/>
                <a:cs typeface="Segoe UI"/>
              </a:rPr>
              <a:t>Kiến trúc hệ thống hiện tại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F0F4840B-DC1D-419E-935C-CE7EF295524E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0972800" cy="0"/>
          </a:xfrm>
          <a:prstGeom prst="line">
            <a:avLst/>
          </a:prstGeom>
          <a:noFill/>
          <a:ln w="9525">
            <a:solidFill>
              <a:srgbClr val="C9D8D4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97A865-603A-42A8-9659-BCB06D06E580}"/>
              </a:ext>
            </a:extLst>
          </p:cNvPr>
          <p:cNvSpPr>
            <a:spLocks noGrp="1"/>
          </p:cNvSpPr>
          <p:nvPr/>
        </p:nvSpPr>
        <p:spPr>
          <a:xfrm>
            <a:off x="10953750" y="457200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r">
              <a:defRPr sz="1350" b="1">
                <a:solidFill>
                  <a:srgbClr val="18A999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8A999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790199-60FD-411D-A6FC-EE14A6FFC13F}"/>
              </a:ext>
            </a:extLst>
          </p:cNvPr>
          <p:cNvSpPr>
            <a:spLocks noGrp="1"/>
          </p:cNvSpPr>
          <p:nvPr/>
        </p:nvSpPr>
        <p:spPr>
          <a:xfrm>
            <a:off x="628650" y="13525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10000"/>
          </a:bodyPr>
          <a:lstStyle/>
          <a:p>
            <a:pPr algn="l">
              <a:defRPr sz="1500" b="1">
                <a:solidFill>
                  <a:srgbClr val="0F766E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Máy phụ huynh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320760-3C18-4C4A-9BB4-D7A485295895}"/>
              </a:ext>
            </a:extLst>
          </p:cNvPr>
          <p:cNvSpPr>
            <a:spLocks noGrp="1"/>
          </p:cNvSpPr>
          <p:nvPr/>
        </p:nvSpPr>
        <p:spPr>
          <a:xfrm>
            <a:off x="4381500" y="1352550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10000"/>
          </a:bodyPr>
          <a:lstStyle/>
          <a:p>
            <a:pPr algn="l">
              <a:defRPr sz="1500" b="1">
                <a:solidFill>
                  <a:srgbClr val="0F766E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Development server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240CE-CFED-4223-B4F2-A27922B40DFF}"/>
              </a:ext>
            </a:extLst>
          </p:cNvPr>
          <p:cNvSpPr>
            <a:spLocks noGrp="1"/>
          </p:cNvSpPr>
          <p:nvPr/>
        </p:nvSpPr>
        <p:spPr>
          <a:xfrm>
            <a:off x="8572500" y="1352550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10000"/>
          </a:bodyPr>
          <a:lstStyle/>
          <a:p>
            <a:pPr algn="l">
              <a:defRPr sz="1500" b="1">
                <a:solidFill>
                  <a:srgbClr val="0F766E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Máy Windows của trẻ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7641C4B-8BD1-4C5B-BAE6-2DDA7B191820}"/>
              </a:ext>
            </a:extLst>
          </p:cNvPr>
          <p:cNvSpPr>
            <a:spLocks noGrp="1"/>
          </p:cNvSpPr>
          <p:nvPr/>
        </p:nvSpPr>
        <p:spPr>
          <a:xfrm>
            <a:off x="666750" y="2952750"/>
            <a:ext cx="2238375" cy="104775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4288">
            <a:solidFill>
              <a:srgbClr val="123B5D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Dashboard</a:t>
            </a:r>
          </a:p>
          <a:p>
            <a:pPr algn="ctr">
              <a:defRPr sz="17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HTML / CSS / JS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39DDAF-EEF1-431A-BA49-0375D66E33D4}"/>
              </a:ext>
            </a:extLst>
          </p:cNvPr>
          <p:cNvSpPr>
            <a:spLocks noGrp="1"/>
          </p:cNvSpPr>
          <p:nvPr/>
        </p:nvSpPr>
        <p:spPr>
          <a:xfrm>
            <a:off x="4286250" y="2952750"/>
            <a:ext cx="2857500" cy="952500"/>
          </a:xfrm>
          <a:prstGeom prst="roundRect">
            <a:avLst>
              <a:gd name="adj" fmla="val 14000"/>
            </a:avLst>
          </a:prstGeom>
          <a:solidFill>
            <a:srgbClr val="EAF6F4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FastAPI</a:t>
            </a:r>
          </a:p>
          <a:p>
            <a:pPr algn="ctr">
              <a:defRPr sz="17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Parent API + Device API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D33C85F-FE00-4A74-83C0-323D8AA4E775}"/>
              </a:ext>
            </a:extLst>
          </p:cNvPr>
          <p:cNvSpPr>
            <a:spLocks noGrp="1"/>
          </p:cNvSpPr>
          <p:nvPr/>
        </p:nvSpPr>
        <p:spPr>
          <a:xfrm>
            <a:off x="4286250" y="1619250"/>
            <a:ext cx="285750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4288">
            <a:solidFill>
              <a:srgbClr val="123B5D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SQLite WAL</a:t>
            </a:r>
          </a:p>
          <a:p>
            <a:pPr algn="ctr">
              <a:defRPr sz="15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identity, policy, command, audit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868DD8F-F7BD-4A40-BB6D-810F42CEAECB}"/>
              </a:ext>
            </a:extLst>
          </p:cNvPr>
          <p:cNvSpPr>
            <a:spLocks noGrp="1"/>
          </p:cNvSpPr>
          <p:nvPr/>
        </p:nvSpPr>
        <p:spPr>
          <a:xfrm>
            <a:off x="4286250" y="4953000"/>
            <a:ext cx="2857500" cy="781050"/>
          </a:xfrm>
          <a:prstGeom prst="roundRect">
            <a:avLst>
              <a:gd name="adj" fmla="val 17073"/>
            </a:avLst>
          </a:prstGeom>
          <a:solidFill>
            <a:srgbClr val="FFF2D9"/>
          </a:solidFill>
          <a:ln w="14288">
            <a:solidFill>
              <a:srgbClr val="D9770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SSE dashboard</a:t>
            </a:r>
          </a:p>
          <a:p>
            <a:pPr algn="ctr">
              <a:defRPr sz="15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WebSocket agent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3FEEC13-0DFA-46C6-9A6E-15B6394031EC}"/>
              </a:ext>
            </a:extLst>
          </p:cNvPr>
          <p:cNvSpPr>
            <a:spLocks noGrp="1"/>
          </p:cNvSpPr>
          <p:nvPr/>
        </p:nvSpPr>
        <p:spPr>
          <a:xfrm>
            <a:off x="8572500" y="1619250"/>
            <a:ext cx="2762250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4288">
            <a:solidFill>
              <a:srgbClr val="123B5D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Tray UI</a:t>
            </a:r>
          </a:p>
          <a:p>
            <a:pPr algn="ctr">
              <a:defRPr sz="165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login, quota, request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B1803CB-2A25-46CE-BADD-CB30A75E59C6}"/>
              </a:ext>
            </a:extLst>
          </p:cNvPr>
          <p:cNvSpPr>
            <a:spLocks noGrp="1"/>
          </p:cNvSpPr>
          <p:nvPr/>
        </p:nvSpPr>
        <p:spPr>
          <a:xfrm>
            <a:off x="8572500" y="2952750"/>
            <a:ext cx="2762250" cy="876300"/>
          </a:xfrm>
          <a:prstGeom prst="roundRect">
            <a:avLst>
              <a:gd name="adj" fmla="val 15217"/>
            </a:avLst>
          </a:prstGeom>
          <a:solidFill>
            <a:srgbClr val="EAF6F4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Windows Service</a:t>
            </a:r>
          </a:p>
          <a:p>
            <a:pPr algn="ctr">
              <a:defRPr sz="165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policy, F1, remote sync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E631669-B13B-48E1-A72E-5866410FC643}"/>
              </a:ext>
            </a:extLst>
          </p:cNvPr>
          <p:cNvSpPr>
            <a:spLocks noGrp="1"/>
          </p:cNvSpPr>
          <p:nvPr/>
        </p:nvSpPr>
        <p:spPr>
          <a:xfrm>
            <a:off x="8572500" y="4953000"/>
            <a:ext cx="2762250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4288">
            <a:solidFill>
              <a:srgbClr val="123B5D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ProgramData</a:t>
            </a:r>
          </a:p>
          <a:p>
            <a:pPr algn="ctr">
              <a:defRPr sz="15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config, signed cache, F1 SQLite</a:t>
            </a:r>
          </a:p>
        </p:txBody>
      </p:sp>
      <p:cxnSp>
        <p:nvCxnSpPr>
          <p:cNvPr id="37" name="Straight Arrow Connector 36"/>
          <p:cNvCxnSpPr>
            <a:stCxn id="7" idx="3"/>
            <a:endCxn id="8" idx="1"/>
          </p:cNvCxnSpPr>
          <p:nvPr/>
        </p:nvCxnSpPr>
        <p:spPr>
          <a:xfrm flipV="1">
            <a:off x="2905125" y="3429000"/>
            <a:ext cx="1381125" cy="47625"/>
          </a:xfrm>
          <a:prstGeom prst="straightConnector1">
            <a:avLst/>
          </a:prstGeom>
          <a:ln w="23813">
            <a:solidFill>
              <a:srgbClr val="123B5D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8" name="Straight Arrow Connector 37"/>
          <p:cNvCxnSpPr>
            <a:stCxn id="8" idx="0"/>
            <a:endCxn id="9" idx="2"/>
          </p:cNvCxnSpPr>
          <p:nvPr/>
        </p:nvCxnSpPr>
        <p:spPr>
          <a:xfrm flipV="1">
            <a:off x="5715000" y="2533650"/>
            <a:ext cx="0" cy="419100"/>
          </a:xfrm>
          <a:prstGeom prst="straightConnector1">
            <a:avLst/>
          </a:prstGeom>
          <a:ln w="23813">
            <a:solidFill>
              <a:srgbClr val="123B5D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9" name="Straight Arrow Connector 38"/>
          <p:cNvCxnSpPr>
            <a:stCxn id="8" idx="2"/>
            <a:endCxn id="10" idx="0"/>
          </p:cNvCxnSpPr>
          <p:nvPr/>
        </p:nvCxnSpPr>
        <p:spPr>
          <a:xfrm>
            <a:off x="5715000" y="3905250"/>
            <a:ext cx="0" cy="1047750"/>
          </a:xfrm>
          <a:prstGeom prst="straightConnector1">
            <a:avLst/>
          </a:prstGeom>
          <a:ln w="23813">
            <a:solidFill>
              <a:srgbClr val="D97706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40" name="Connector: Elbow 39"/>
          <p:cNvCxnSpPr>
            <a:stCxn id="10" idx="1"/>
            <a:endCxn id="7" idx="2"/>
          </p:cNvCxnSpPr>
          <p:nvPr/>
        </p:nvCxnSpPr>
        <p:spPr>
          <a:xfrm flipH="1" flipV="1">
            <a:off x="1785938" y="4000500"/>
            <a:ext cx="2500313" cy="1343025"/>
          </a:xfrm>
          <a:prstGeom prst="bentConnector2">
            <a:avLst/>
          </a:prstGeom>
          <a:ln w="23813">
            <a:solidFill>
              <a:srgbClr val="D97706"/>
            </a:solidFill>
            <a:prstDash val="solid"/>
            <a:tailEnd type="triangle" w="sm" len="sm"/>
          </a:ln>
        </p:spPr>
      </p:cxnSp>
      <p:cxnSp>
        <p:nvCxnSpPr>
          <p:cNvPr id="41" name="Straight Arrow Connector 40"/>
          <p:cNvCxnSpPr>
            <a:stCxn id="12" idx="1"/>
            <a:endCxn id="8" idx="3"/>
          </p:cNvCxnSpPr>
          <p:nvPr/>
        </p:nvCxnSpPr>
        <p:spPr>
          <a:xfrm flipH="1">
            <a:off x="7143750" y="3390900"/>
            <a:ext cx="1428750" cy="38100"/>
          </a:xfrm>
          <a:prstGeom prst="straightConnector1">
            <a:avLst/>
          </a:prstGeom>
          <a:ln w="23813">
            <a:solidFill>
              <a:srgbClr val="18A999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42" name="Straight Arrow Connector 41"/>
          <p:cNvCxnSpPr>
            <a:stCxn id="11" idx="2"/>
            <a:endCxn id="12" idx="0"/>
          </p:cNvCxnSpPr>
          <p:nvPr/>
        </p:nvCxnSpPr>
        <p:spPr>
          <a:xfrm>
            <a:off x="9953625" y="2495550"/>
            <a:ext cx="0" cy="457200"/>
          </a:xfrm>
          <a:prstGeom prst="straightConnector1">
            <a:avLst/>
          </a:prstGeom>
          <a:ln w="23813">
            <a:solidFill>
              <a:srgbClr val="123B5D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43" name="Straight Arrow Connector 42"/>
          <p:cNvCxnSpPr>
            <a:stCxn id="12" idx="2"/>
            <a:endCxn id="13" idx="0"/>
          </p:cNvCxnSpPr>
          <p:nvPr/>
        </p:nvCxnSpPr>
        <p:spPr>
          <a:xfrm>
            <a:off x="9953625" y="3829050"/>
            <a:ext cx="0" cy="1123950"/>
          </a:xfrm>
          <a:prstGeom prst="straightConnector1">
            <a:avLst/>
          </a:prstGeom>
          <a:ln w="23813">
            <a:solidFill>
              <a:srgbClr val="123B5D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3EFA925-15FA-4884-8DEA-3FECFF6232B4}"/>
              </a:ext>
            </a:extLst>
          </p:cNvPr>
          <p:cNvSpPr>
            <a:spLocks noGrp="1"/>
          </p:cNvSpPr>
          <p:nvPr/>
        </p:nvSpPr>
        <p:spPr>
          <a:xfrm>
            <a:off x="2952750" y="318135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696" lnSpcReduction="10000"/>
          </a:bodyPr>
          <a:lstStyle/>
          <a:p>
            <a:pPr algn="ctr">
              <a:defRPr sz="12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Cookie + CSRF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8EBB03-C460-4EE2-B22E-9FE3E10DD6AC}"/>
              </a:ext>
            </a:extLst>
          </p:cNvPr>
          <p:cNvSpPr>
            <a:spLocks noGrp="1"/>
          </p:cNvSpPr>
          <p:nvPr/>
        </p:nvSpPr>
        <p:spPr>
          <a:xfrm>
            <a:off x="7181850" y="3181350"/>
            <a:ext cx="13811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056"/>
          </a:bodyPr>
          <a:lstStyle/>
          <a:p>
            <a:pPr algn="ctr">
              <a:defRPr sz="12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HTTP + WebSocket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EFCCCF-74A2-4ACA-AFB9-23C025F5BC11}"/>
              </a:ext>
            </a:extLst>
          </p:cNvPr>
          <p:cNvSpPr>
            <a:spLocks noGrp="1"/>
          </p:cNvSpPr>
          <p:nvPr/>
        </p:nvSpPr>
        <p:spPr>
          <a:xfrm>
            <a:off x="9296400" y="2647950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92" lnSpcReduction="10000"/>
          </a:bodyPr>
          <a:lstStyle/>
          <a:p>
            <a:pPr algn="ctr">
              <a:defRPr sz="12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Named pipe v1</a:t>
            </a:r>
          </a:p>
        </p:txBody>
      </p:sp>
    </p:spTree>
    <p:extLst>
      <p:ext uri="{BB962C8B-B14F-4D97-AF65-F5344CB8AC3E}">
        <p14:creationId xmlns:p14="http://schemas.microsoft.com/office/powerpoint/2010/main" val="728980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2D5B40-7FAD-57EE-49D2-217CB08B1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9CAC432-069F-6333-9891-BC24D0E0EA6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123B5D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23B5D"/>
                </a:solidFill>
                <a:latin typeface="Segoe UI"/>
                <a:ea typeface="Segoe UI"/>
                <a:cs typeface="Segoe UI"/>
              </a:rPr>
              <a:t>Kiến trúc hệ thống hiện tại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C1B4F320-28D1-6477-E284-70E9914F6533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0972800" cy="0"/>
          </a:xfrm>
          <a:prstGeom prst="line">
            <a:avLst/>
          </a:prstGeom>
          <a:noFill/>
          <a:ln w="9525">
            <a:solidFill>
              <a:srgbClr val="C9D8D4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B5490A-41BA-EB9F-D0E5-CA0FC8FDCC38}"/>
              </a:ext>
            </a:extLst>
          </p:cNvPr>
          <p:cNvSpPr>
            <a:spLocks noGrp="1"/>
          </p:cNvSpPr>
          <p:nvPr/>
        </p:nvSpPr>
        <p:spPr>
          <a:xfrm>
            <a:off x="10953750" y="457200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r">
              <a:defRPr sz="1350" b="1">
                <a:solidFill>
                  <a:srgbClr val="18A999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8A999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FE210-4A95-B68F-014E-D724ED965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1655"/>
            <a:ext cx="12315174" cy="33196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D02F27-6BFC-D112-54F0-28A954A78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587" y="1582473"/>
            <a:ext cx="12315174" cy="331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390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9D0277C-52F0-400F-95BA-B4A58EBFF64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123B5D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23B5D"/>
                </a:solidFill>
                <a:latin typeface="Segoe UI"/>
                <a:ea typeface="Segoe UI"/>
                <a:cs typeface="Segoe UI"/>
              </a:rPr>
              <a:t>Luồng sử dụng hiện tại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37668276-0195-4171-A84B-CF52940704DF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0972800" cy="0"/>
          </a:xfrm>
          <a:prstGeom prst="line">
            <a:avLst/>
          </a:prstGeom>
          <a:noFill/>
          <a:ln w="9525">
            <a:solidFill>
              <a:srgbClr val="C9D8D4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AE3466-9533-46E3-A46E-55784BA62357}"/>
              </a:ext>
            </a:extLst>
          </p:cNvPr>
          <p:cNvSpPr>
            <a:spLocks noGrp="1"/>
          </p:cNvSpPr>
          <p:nvPr/>
        </p:nvSpPr>
        <p:spPr>
          <a:xfrm>
            <a:off x="10953750" y="457200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r">
              <a:defRPr sz="1350" b="1">
                <a:solidFill>
                  <a:srgbClr val="18A999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8A999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88F5CB9-C9F9-4EEB-9C28-EBB29B992005}"/>
              </a:ext>
            </a:extLst>
          </p:cNvPr>
          <p:cNvSpPr>
            <a:spLocks noGrp="1"/>
          </p:cNvSpPr>
          <p:nvPr/>
        </p:nvSpPr>
        <p:spPr>
          <a:xfrm>
            <a:off x="1114425" y="1676400"/>
            <a:ext cx="685800" cy="685800"/>
          </a:xfrm>
          <a:prstGeom prst="ellipse">
            <a:avLst/>
          </a:prstGeom>
          <a:solidFill>
            <a:srgbClr val="18A999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B022538-2213-43D8-8FA7-F4C5E9E96DD9}"/>
              </a:ext>
            </a:extLst>
          </p:cNvPr>
          <p:cNvSpPr>
            <a:spLocks noGrp="1"/>
          </p:cNvSpPr>
          <p:nvPr/>
        </p:nvSpPr>
        <p:spPr>
          <a:xfrm>
            <a:off x="523875" y="2724150"/>
            <a:ext cx="1905000" cy="6858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4288">
            <a:solidFill>
              <a:srgbClr val="C9D8D4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Tạo hồ sơ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A04AD9-49B5-47F9-9B43-6405F63F6549}"/>
              </a:ext>
            </a:extLst>
          </p:cNvPr>
          <p:cNvSpPr>
            <a:spLocks noGrp="1"/>
          </p:cNvSpPr>
          <p:nvPr/>
        </p:nvSpPr>
        <p:spPr>
          <a:xfrm>
            <a:off x="523875" y="3638550"/>
            <a:ext cx="190500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Phụ huynh đặt username, PIN và policy mặc định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5FA118-39C7-4242-BF6B-7BCFAE0DEC41}"/>
              </a:ext>
            </a:extLst>
          </p:cNvPr>
          <p:cNvSpPr>
            <a:spLocks noGrp="1"/>
          </p:cNvSpPr>
          <p:nvPr/>
        </p:nvSpPr>
        <p:spPr>
          <a:xfrm>
            <a:off x="3438525" y="1676400"/>
            <a:ext cx="685800" cy="685800"/>
          </a:xfrm>
          <a:prstGeom prst="ellipse">
            <a:avLst/>
          </a:prstGeom>
          <a:solidFill>
            <a:srgbClr val="18A999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D39AA73-316C-481E-B28E-F540152DA77D}"/>
              </a:ext>
            </a:extLst>
          </p:cNvPr>
          <p:cNvSpPr>
            <a:spLocks noGrp="1"/>
          </p:cNvSpPr>
          <p:nvPr/>
        </p:nvSpPr>
        <p:spPr>
          <a:xfrm>
            <a:off x="2847975" y="2724150"/>
            <a:ext cx="1905000" cy="6858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4288">
            <a:solidFill>
              <a:srgbClr val="C9D8D4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Ghép thiết bị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FAD45B-C83C-4989-A10A-B3FC030948C4}"/>
              </a:ext>
            </a:extLst>
          </p:cNvPr>
          <p:cNvSpPr>
            <a:spLocks noGrp="1"/>
          </p:cNvSpPr>
          <p:nvPr/>
        </p:nvSpPr>
        <p:spPr>
          <a:xfrm>
            <a:off x="2847975" y="3638550"/>
            <a:ext cx="190500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Mã 8 ký tự, hạn 10 phút, dùng một lần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7B103B4-D4A1-4444-8B6E-06284D19DCB7}"/>
              </a:ext>
            </a:extLst>
          </p:cNvPr>
          <p:cNvSpPr>
            <a:spLocks noGrp="1"/>
          </p:cNvSpPr>
          <p:nvPr/>
        </p:nvSpPr>
        <p:spPr>
          <a:xfrm>
            <a:off x="5762625" y="1676400"/>
            <a:ext cx="685800" cy="685800"/>
          </a:xfrm>
          <a:prstGeom prst="ellipse">
            <a:avLst/>
          </a:prstGeom>
          <a:solidFill>
            <a:srgbClr val="18A999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560780C-C385-4DAB-95A3-5C7B83D9B1D8}"/>
              </a:ext>
            </a:extLst>
          </p:cNvPr>
          <p:cNvSpPr>
            <a:spLocks noGrp="1"/>
          </p:cNvSpPr>
          <p:nvPr/>
        </p:nvSpPr>
        <p:spPr>
          <a:xfrm>
            <a:off x="5172075" y="2724150"/>
            <a:ext cx="1905000" cy="6858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4288">
            <a:solidFill>
              <a:srgbClr val="C9D8D4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Cài agent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0BB4B0-392F-43CD-92E7-EA90E02B8B26}"/>
              </a:ext>
            </a:extLst>
          </p:cNvPr>
          <p:cNvSpPr>
            <a:spLocks noGrp="1"/>
          </p:cNvSpPr>
          <p:nvPr/>
        </p:nvSpPr>
        <p:spPr>
          <a:xfrm>
            <a:off x="5172075" y="3638550"/>
            <a:ext cx="190500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00" b="0" dirty="0" err="1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Một</a:t>
            </a:r>
            <a:r>
              <a:rPr sz="1500" b="0" dirty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b="0" dirty="0" err="1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lệnh</a:t>
            </a:r>
            <a:r>
              <a:rPr sz="1500" b="0" dirty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 Setup, UAC, service </a:t>
            </a:r>
            <a:r>
              <a:rPr sz="1500" b="0" dirty="0" err="1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và</a:t>
            </a:r>
            <a:r>
              <a:rPr sz="1500" b="0" dirty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 Tray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8D8B0A8-09E3-422E-A098-7F2433738094}"/>
              </a:ext>
            </a:extLst>
          </p:cNvPr>
          <p:cNvSpPr>
            <a:spLocks noGrp="1"/>
          </p:cNvSpPr>
          <p:nvPr/>
        </p:nvSpPr>
        <p:spPr>
          <a:xfrm>
            <a:off x="8086725" y="1676400"/>
            <a:ext cx="685800" cy="685800"/>
          </a:xfrm>
          <a:prstGeom prst="ellipse">
            <a:avLst/>
          </a:prstGeom>
          <a:solidFill>
            <a:srgbClr val="18A999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CFB1BD8-2216-4373-B01B-CE530703AF4E}"/>
              </a:ext>
            </a:extLst>
          </p:cNvPr>
          <p:cNvSpPr>
            <a:spLocks noGrp="1"/>
          </p:cNvSpPr>
          <p:nvPr/>
        </p:nvSpPr>
        <p:spPr>
          <a:xfrm>
            <a:off x="7496175" y="2724150"/>
            <a:ext cx="1905000" cy="6858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4288">
            <a:solidFill>
              <a:srgbClr val="C9D8D4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Đăng nhập trẻ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743D0D-FA80-4190-8F08-0B439EF12276}"/>
              </a:ext>
            </a:extLst>
          </p:cNvPr>
          <p:cNvSpPr>
            <a:spLocks noGrp="1"/>
          </p:cNvSpPr>
          <p:nvPr/>
        </p:nvSpPr>
        <p:spPr>
          <a:xfrm>
            <a:off x="7496175" y="3638550"/>
            <a:ext cx="190500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Tray xác minh PIN cục bộ và chọn đúng policy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C82FA64-B1BB-41CD-9FA8-51BC18958245}"/>
              </a:ext>
            </a:extLst>
          </p:cNvPr>
          <p:cNvSpPr>
            <a:spLocks noGrp="1"/>
          </p:cNvSpPr>
          <p:nvPr/>
        </p:nvSpPr>
        <p:spPr>
          <a:xfrm>
            <a:off x="10410825" y="1676400"/>
            <a:ext cx="685800" cy="685800"/>
          </a:xfrm>
          <a:prstGeom prst="ellipse">
            <a:avLst/>
          </a:prstGeom>
          <a:solidFill>
            <a:srgbClr val="123B5D"/>
          </a:solidFill>
          <a:ln w="14288">
            <a:solidFill>
              <a:srgbClr val="123B5D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D8B4FB8-19D9-458D-B64B-C5DD1B5C5B33}"/>
              </a:ext>
            </a:extLst>
          </p:cNvPr>
          <p:cNvSpPr>
            <a:spLocks noGrp="1"/>
          </p:cNvSpPr>
          <p:nvPr/>
        </p:nvSpPr>
        <p:spPr>
          <a:xfrm>
            <a:off x="9820275" y="2724150"/>
            <a:ext cx="1905000" cy="6858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4288">
            <a:solidFill>
              <a:srgbClr val="C9D8D4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Sử dụng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FBB170-1ED8-496C-9494-70E76FE298A9}"/>
              </a:ext>
            </a:extLst>
          </p:cNvPr>
          <p:cNvSpPr>
            <a:spLocks noGrp="1"/>
          </p:cNvSpPr>
          <p:nvPr/>
        </p:nvSpPr>
        <p:spPr>
          <a:xfrm>
            <a:off x="9820275" y="3638550"/>
            <a:ext cx="190500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Quota, lịch, xin giờ và audit đồng bộ hai phía</a:t>
            </a:r>
          </a:p>
        </p:txBody>
      </p:sp>
      <p:cxnSp>
        <p:nvCxnSpPr>
          <p:cNvPr id="42" name="Straight Arrow Connector 41"/>
          <p:cNvCxnSpPr>
            <a:stCxn id="5" idx="3"/>
            <a:endCxn id="8" idx="1"/>
          </p:cNvCxnSpPr>
          <p:nvPr/>
        </p:nvCxnSpPr>
        <p:spPr>
          <a:xfrm>
            <a:off x="2428875" y="3067050"/>
            <a:ext cx="419100" cy="0"/>
          </a:xfrm>
          <a:prstGeom prst="straightConnector1">
            <a:avLst/>
          </a:prstGeom>
          <a:ln w="19050">
            <a:solidFill>
              <a:srgbClr val="18A999"/>
            </a:solidFill>
            <a:prstDash val="solid"/>
            <a:tailEnd type="triangle" w="sm" len="sm"/>
          </a:ln>
        </p:spPr>
      </p:cxnSp>
      <p:cxnSp>
        <p:nvCxnSpPr>
          <p:cNvPr id="43" name="Straight Arrow Connector 42"/>
          <p:cNvCxnSpPr>
            <a:stCxn id="8" idx="3"/>
            <a:endCxn id="11" idx="1"/>
          </p:cNvCxnSpPr>
          <p:nvPr/>
        </p:nvCxnSpPr>
        <p:spPr>
          <a:xfrm>
            <a:off x="4752975" y="3067050"/>
            <a:ext cx="419100" cy="0"/>
          </a:xfrm>
          <a:prstGeom prst="straightConnector1">
            <a:avLst/>
          </a:prstGeom>
          <a:ln w="19050">
            <a:solidFill>
              <a:srgbClr val="18A999"/>
            </a:solidFill>
            <a:prstDash val="solid"/>
            <a:tailEnd type="triangle" w="sm" len="sm"/>
          </a:ln>
        </p:spPr>
      </p:cxnSp>
      <p:cxnSp>
        <p:nvCxnSpPr>
          <p:cNvPr id="44" name="Straight Arrow Connector 43"/>
          <p:cNvCxnSpPr>
            <a:stCxn id="11" idx="3"/>
            <a:endCxn id="14" idx="1"/>
          </p:cNvCxnSpPr>
          <p:nvPr/>
        </p:nvCxnSpPr>
        <p:spPr>
          <a:xfrm>
            <a:off x="7077075" y="3067050"/>
            <a:ext cx="419100" cy="0"/>
          </a:xfrm>
          <a:prstGeom prst="straightConnector1">
            <a:avLst/>
          </a:prstGeom>
          <a:ln w="19050">
            <a:solidFill>
              <a:srgbClr val="18A999"/>
            </a:solidFill>
            <a:prstDash val="solid"/>
            <a:tailEnd type="triangle" w="sm" len="sm"/>
          </a:ln>
        </p:spPr>
      </p:cxnSp>
      <p:cxnSp>
        <p:nvCxnSpPr>
          <p:cNvPr id="45" name="Straight Arrow Connector 44"/>
          <p:cNvCxnSpPr>
            <a:stCxn id="14" idx="3"/>
            <a:endCxn id="17" idx="1"/>
          </p:cNvCxnSpPr>
          <p:nvPr/>
        </p:nvCxnSpPr>
        <p:spPr>
          <a:xfrm>
            <a:off x="9401175" y="3067050"/>
            <a:ext cx="419100" cy="0"/>
          </a:xfrm>
          <a:prstGeom prst="straightConnector1">
            <a:avLst/>
          </a:prstGeom>
          <a:ln w="19050">
            <a:solidFill>
              <a:srgbClr val="18A999"/>
            </a:solidFill>
            <a:prstDash val="solid"/>
            <a:tailEnd type="triangle" w="sm" len="sm"/>
          </a:ln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D0920111-FFEF-4507-A337-1B9961252E2D}"/>
              </a:ext>
            </a:extLst>
          </p:cNvPr>
          <p:cNvSpPr>
            <a:spLocks noGrp="1"/>
          </p:cNvSpPr>
          <p:nvPr/>
        </p:nvSpPr>
        <p:spPr>
          <a:xfrm>
            <a:off x="1047750" y="561975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972"/>
          </a:bodyPr>
          <a:lstStyle/>
          <a:p>
            <a:pPr algn="ctr">
              <a:defRPr sz="1725" b="1">
                <a:solidFill>
                  <a:srgbClr val="123B5D"/>
                </a:solidFill>
                <a:latin typeface="Segoe UI"/>
                <a:ea typeface="Segoe UI"/>
                <a:cs typeface="Segoe UI"/>
              </a:defRPr>
            </a:pPr>
            <a:endParaRPr sz="1725" b="1" dirty="0">
              <a:solidFill>
                <a:srgbClr val="123B5D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35181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C024AA0-4763-4A2A-93E3-DF231DBD566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123B5D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23B5D"/>
                </a:solidFill>
                <a:latin typeface="Segoe UI"/>
                <a:ea typeface="Segoe UI"/>
                <a:cs typeface="Segoe UI"/>
              </a:rPr>
              <a:t>F1 và lõi F4 đã triển khai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69C44EB-336C-4631-97A2-A083595263CE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0972800" cy="0"/>
          </a:xfrm>
          <a:prstGeom prst="line">
            <a:avLst/>
          </a:prstGeom>
          <a:noFill/>
          <a:ln w="9525">
            <a:solidFill>
              <a:srgbClr val="C9D8D4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B5F549-EB4E-42F6-A9E1-FE2A85B42E4A}"/>
              </a:ext>
            </a:extLst>
          </p:cNvPr>
          <p:cNvSpPr>
            <a:spLocks noGrp="1"/>
          </p:cNvSpPr>
          <p:nvPr/>
        </p:nvSpPr>
        <p:spPr>
          <a:xfrm>
            <a:off x="10953750" y="457200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r">
              <a:defRPr sz="1350" b="1">
                <a:solidFill>
                  <a:srgbClr val="18A999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8A999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C81660-F39A-485C-84DF-1A3110A1DB53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2476500" cy="1238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474"/>
          </a:bodyPr>
          <a:lstStyle/>
          <a:p>
            <a:pPr algn="l">
              <a:defRPr sz="7800" b="1">
                <a:solidFill>
                  <a:srgbClr val="18A999"/>
                </a:solidFill>
                <a:latin typeface="Segoe UI"/>
                <a:ea typeface="Segoe UI"/>
                <a:cs typeface="Segoe UI"/>
              </a:defRPr>
            </a:pPr>
            <a:r>
              <a:rPr sz="7800" b="1">
                <a:solidFill>
                  <a:srgbClr val="18A999"/>
                </a:solidFill>
                <a:latin typeface="Segoe UI"/>
                <a:ea typeface="Segoe UI"/>
                <a:cs typeface="Segoe UI"/>
              </a:rPr>
              <a:t>140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8492EC-A88E-4BA1-954F-D7BF188BCBAB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950" b="1">
                <a:solidFill>
                  <a:srgbClr val="123B5D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23B5D"/>
                </a:solidFill>
                <a:latin typeface="Segoe UI"/>
                <a:ea typeface="Segoe UI"/>
                <a:cs typeface="Segoe UI"/>
              </a:rPr>
              <a:t>test tự động đạt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D7C163-EDBB-432C-91F0-33CAEA42CBDC}"/>
              </a:ext>
            </a:extLst>
          </p:cNvPr>
          <p:cNvSpPr>
            <a:spLocks noGrp="1"/>
          </p:cNvSpPr>
          <p:nvPr/>
        </p:nvSpPr>
        <p:spPr>
          <a:xfrm>
            <a:off x="742950" y="3190875"/>
            <a:ext cx="2619375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State machine, IPC, API, realtime và UI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3A963D4E-0B85-42F0-9687-860415F3A93F}"/>
              </a:ext>
            </a:extLst>
          </p:cNvPr>
          <p:cNvSpPr>
            <a:spLocks noGrp="1"/>
          </p:cNvSpPr>
          <p:nvPr/>
        </p:nvSpPr>
        <p:spPr>
          <a:xfrm>
            <a:off x="3733800" y="1428750"/>
            <a:ext cx="0" cy="4333875"/>
          </a:xfrm>
          <a:prstGeom prst="line">
            <a:avLst/>
          </a:prstGeom>
          <a:noFill/>
          <a:ln w="14288">
            <a:solidFill>
              <a:srgbClr val="C9D8D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688FC7-D864-4732-B32C-65C06FE59B86}"/>
              </a:ext>
            </a:extLst>
          </p:cNvPr>
          <p:cNvSpPr>
            <a:spLocks noGrp="1"/>
          </p:cNvSpPr>
          <p:nvPr/>
        </p:nvSpPr>
        <p:spPr>
          <a:xfrm>
            <a:off x="4238625" y="1476375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123B5D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23B5D"/>
                </a:solidFill>
                <a:latin typeface="Segoe UI"/>
                <a:ea typeface="Segoe UI"/>
                <a:cs typeface="Segoe UI"/>
              </a:rPr>
              <a:t>F1 - quản lý thời gian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A15634-7319-4BCE-966A-736276EB5C61}"/>
              </a:ext>
            </a:extLst>
          </p:cNvPr>
          <p:cNvSpPr>
            <a:spLocks noGrp="1"/>
          </p:cNvSpPr>
          <p:nvPr/>
        </p:nvSpPr>
        <p:spPr>
          <a:xfrm>
            <a:off x="4238625" y="2047875"/>
            <a:ext cx="3190875" cy="3143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Quota weekday/weekend</a:t>
            </a:r>
          </a:p>
          <a:p>
            <a:pPr algn="l">
              <a:defRPr sz="15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Lịch 7 × 48 ô nửa giờ</a:t>
            </a:r>
          </a:p>
          <a:p>
            <a:pPr algn="l">
              <a:defRPr sz="15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Idle, lock state và monotonic clock</a:t>
            </a:r>
          </a:p>
          <a:p>
            <a:pPr algn="l">
              <a:defRPr sz="15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Cảnh báo 10/5/1 phút, grace 60 giây</a:t>
            </a:r>
          </a:p>
          <a:p>
            <a:pPr algn="l">
              <a:defRPr sz="15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One-shot LockWorkStation</a:t>
            </a:r>
          </a:p>
          <a:p>
            <a:pPr algn="l">
              <a:defRPr sz="15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Persistence và phát hiện lùi giờ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389CD5-C1D5-4EA5-BE8A-42F1671907C3}"/>
              </a:ext>
            </a:extLst>
          </p:cNvPr>
          <p:cNvSpPr>
            <a:spLocks noGrp="1"/>
          </p:cNvSpPr>
          <p:nvPr/>
        </p:nvSpPr>
        <p:spPr>
          <a:xfrm>
            <a:off x="7905750" y="1476375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123B5D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23B5D"/>
                </a:solidFill>
                <a:latin typeface="Segoe UI"/>
                <a:ea typeface="Segoe UI"/>
                <a:cs typeface="Segoe UI"/>
              </a:rPr>
              <a:t>F4 - cấu hình từ xa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C58818-719A-4978-B781-62B05247662A}"/>
              </a:ext>
            </a:extLst>
          </p:cNvPr>
          <p:cNvSpPr>
            <a:spLocks noGrp="1"/>
          </p:cNvSpPr>
          <p:nvPr/>
        </p:nvSpPr>
        <p:spPr>
          <a:xfrm>
            <a:off x="7905750" y="2047875"/>
            <a:ext cx="3190875" cy="3143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Policy version + HMAC</a:t>
            </a:r>
          </a:p>
          <a:p>
            <a:pPr algn="l">
              <a:defRPr sz="15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WebSocket và heartbeat fallback</a:t>
            </a:r>
          </a:p>
          <a:p>
            <a:pPr algn="l">
              <a:defRPr sz="15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PIN hồ sơ và phiên đang dùng</a:t>
            </a:r>
          </a:p>
          <a:p>
            <a:pPr algn="l">
              <a:defRPr sz="15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Cộng giờ idempotent</a:t>
            </a:r>
          </a:p>
          <a:p>
            <a:pPr algn="l">
              <a:defRPr sz="15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Request xin giờ realtime</a:t>
            </a:r>
          </a:p>
          <a:p>
            <a:pPr algn="l">
              <a:defRPr sz="15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Audit cho phụ huynh và trẻ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14DDD-EB51-4319-8506-C17B65D1E6C4}"/>
              </a:ext>
            </a:extLst>
          </p:cNvPr>
          <p:cNvSpPr>
            <a:spLocks noGrp="1"/>
          </p:cNvSpPr>
          <p:nvPr/>
        </p:nvSpPr>
        <p:spPr>
          <a:xfrm>
            <a:off x="742950" y="476250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1">
                <a:solidFill>
                  <a:srgbClr val="D97706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97706"/>
                </a:solidFill>
                <a:latin typeface="Segoe UI"/>
                <a:ea typeface="Segoe UI"/>
                <a:cs typeface="Segoe UI"/>
              </a:rPr>
              <a:t>Mức development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46E3A0-1210-455D-97D0-5645F44C2CAB}"/>
              </a:ext>
            </a:extLst>
          </p:cNvPr>
          <p:cNvSpPr>
            <a:spLocks noGrp="1"/>
          </p:cNvSpPr>
          <p:nvPr/>
        </p:nvSpPr>
        <p:spPr>
          <a:xfrm>
            <a:off x="742950" y="5162550"/>
            <a:ext cx="26670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Chưa thay thế acceptance trên máy Windows lab.</a:t>
            </a:r>
          </a:p>
        </p:txBody>
      </p:sp>
    </p:spTree>
    <p:extLst>
      <p:ext uri="{BB962C8B-B14F-4D97-AF65-F5344CB8AC3E}">
        <p14:creationId xmlns:p14="http://schemas.microsoft.com/office/powerpoint/2010/main" val="944260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D6DB17B-37E1-47FF-B2EB-D19117AB0BC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123B5D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23B5D"/>
                </a:solidFill>
                <a:latin typeface="Segoe UI"/>
                <a:ea typeface="Segoe UI"/>
                <a:cs typeface="Segoe UI"/>
              </a:rPr>
              <a:t>Bằng chứng kiểm thử và khoảng trống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BD0D26A6-B86B-4DBF-A717-A6C53C9085B7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0972800" cy="0"/>
          </a:xfrm>
          <a:prstGeom prst="line">
            <a:avLst/>
          </a:prstGeom>
          <a:noFill/>
          <a:ln w="9525">
            <a:solidFill>
              <a:srgbClr val="C9D8D4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B6D38C-15A0-4399-B8E5-269E234BBD77}"/>
              </a:ext>
            </a:extLst>
          </p:cNvPr>
          <p:cNvSpPr>
            <a:spLocks noGrp="1"/>
          </p:cNvSpPr>
          <p:nvPr/>
        </p:nvSpPr>
        <p:spPr>
          <a:xfrm>
            <a:off x="10953750" y="457200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r">
              <a:defRPr sz="1350" b="1">
                <a:solidFill>
                  <a:srgbClr val="18A999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8A999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72ECE6-D23A-4E70-959F-609B0C893817}"/>
              </a:ext>
            </a:extLst>
          </p:cNvPr>
          <p:cNvSpPr>
            <a:spLocks noGrp="1"/>
          </p:cNvSpPr>
          <p:nvPr/>
        </p:nvSpPr>
        <p:spPr>
          <a:xfrm>
            <a:off x="762000" y="1466850"/>
            <a:ext cx="4381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428"/>
          </a:bodyPr>
          <a:lstStyle/>
          <a:p>
            <a:pPr algn="l">
              <a:defRPr sz="2100" b="1">
                <a:solidFill>
                  <a:srgbClr val="2E7D5B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E7D5B"/>
                </a:solidFill>
                <a:latin typeface="Segoe UI"/>
                <a:ea typeface="Segoe UI"/>
                <a:cs typeface="Segoe UI"/>
              </a:rPr>
              <a:t>Đã kiểm chứng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1E8FA3-2BFC-45F8-9BF4-50670E4A7BBB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4762500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✓ 140/140 test đạt</a:t>
            </a:r>
          </a:p>
          <a:p>
            <a:pPr algn="l">
              <a:defRPr sz="172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✓ Service restart và named pipe trả pong</a:t>
            </a:r>
          </a:p>
          <a:p>
            <a:pPr algn="l">
              <a:defRPr sz="172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✓ Agent ghép đôi, nhận profile và policy v11</a:t>
            </a:r>
          </a:p>
          <a:p>
            <a:pPr algn="l">
              <a:defRPr sz="172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✓ Đồng hồ giảm 5 giây trong 5 giây thực</a:t>
            </a:r>
          </a:p>
          <a:p>
            <a:pPr algn="l">
              <a:defRPr sz="172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✓ Dashboard phục vụ selector 24h, phút 00/30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644B2554-42ED-493B-AD31-397595A4F81D}"/>
              </a:ext>
            </a:extLst>
          </p:cNvPr>
          <p:cNvSpPr>
            <a:spLocks noGrp="1"/>
          </p:cNvSpPr>
          <p:nvPr/>
        </p:nvSpPr>
        <p:spPr>
          <a:xfrm>
            <a:off x="6000750" y="1381125"/>
            <a:ext cx="0" cy="4286250"/>
          </a:xfrm>
          <a:prstGeom prst="line">
            <a:avLst/>
          </a:prstGeom>
          <a:noFill/>
          <a:ln w="14288">
            <a:solidFill>
              <a:srgbClr val="C9D8D4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DAFB83-E20C-4936-94D2-F551D821D9A8}"/>
              </a:ext>
            </a:extLst>
          </p:cNvPr>
          <p:cNvSpPr>
            <a:spLocks noGrp="1"/>
          </p:cNvSpPr>
          <p:nvPr/>
        </p:nvSpPr>
        <p:spPr>
          <a:xfrm>
            <a:off x="6572250" y="1466850"/>
            <a:ext cx="452437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428"/>
          </a:bodyPr>
          <a:lstStyle/>
          <a:p>
            <a:pPr algn="l">
              <a:defRPr sz="2100" b="1">
                <a:solidFill>
                  <a:srgbClr val="D97706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D97706"/>
                </a:solidFill>
                <a:latin typeface="Segoe UI"/>
                <a:ea typeface="Segoe UI"/>
                <a:cs typeface="Segoe UI"/>
              </a:rPr>
              <a:t>Cần acceptance trên máy lab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640ACC-EDD6-4370-9E6F-95FE4F241DFD}"/>
              </a:ext>
            </a:extLst>
          </p:cNvPr>
          <p:cNvSpPr>
            <a:spLocks noGrp="1"/>
          </p:cNvSpPr>
          <p:nvPr/>
        </p:nvSpPr>
        <p:spPr>
          <a:xfrm>
            <a:off x="6591300" y="2095500"/>
            <a:ext cx="4619625" cy="2857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• Quota 3 phút, grace 60 giây và khóa thật</a:t>
            </a:r>
          </a:p>
          <a:p>
            <a:pPr algn="l">
              <a:defRPr sz="172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• Ngoài lịch phải khóa trong 5 giây</a:t>
            </a:r>
          </a:p>
          <a:p>
            <a:pPr algn="l">
              <a:defRPr sz="172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• Sai số một giờ trong ±30 giây</a:t>
            </a:r>
          </a:p>
          <a:p>
            <a:pPr algn="l">
              <a:defRPr sz="172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• Policy dashboard đến agent dưới 60 giây</a:t>
            </a:r>
          </a:p>
          <a:p>
            <a:pPr algn="l">
              <a:defRPr sz="172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• Lệnh khẩn đầu-cuối dưới 5 giây</a:t>
            </a:r>
          </a:p>
          <a:p>
            <a:pPr algn="l">
              <a:defRPr sz="172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• Cài mới và cleanup trên máy Windows sạch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686BF7B-9146-4797-B4ED-6BD2CB2C4B4B}"/>
              </a:ext>
            </a:extLst>
          </p:cNvPr>
          <p:cNvSpPr>
            <a:spLocks noGrp="1"/>
          </p:cNvSpPr>
          <p:nvPr/>
        </p:nvSpPr>
        <p:spPr>
          <a:xfrm>
            <a:off x="1047750" y="5429250"/>
            <a:ext cx="10096500" cy="723900"/>
          </a:xfrm>
          <a:prstGeom prst="roundRect">
            <a:avLst>
              <a:gd name="adj" fmla="val 18421"/>
            </a:avLst>
          </a:prstGeom>
          <a:solidFill>
            <a:srgbClr val="FFF2D9"/>
          </a:solidFill>
          <a:ln w="14288">
            <a:solidFill>
              <a:srgbClr val="D9770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23B5D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23B5D"/>
                </a:solidFill>
                <a:latin typeface="Segoe UI"/>
                <a:ea typeface="Segoe UI"/>
                <a:cs typeface="Segoe UI"/>
              </a:rPr>
              <a:t>Kết luận: lõi Tuần 2 đã có trong mã, nhưng chưa nên ghi “nghiệm thu hoàn tất” trước khi chạy đủ acceptance thật.</a:t>
            </a:r>
          </a:p>
        </p:txBody>
      </p:sp>
    </p:spTree>
    <p:extLst>
      <p:ext uri="{BB962C8B-B14F-4D97-AF65-F5344CB8AC3E}">
        <p14:creationId xmlns:p14="http://schemas.microsoft.com/office/powerpoint/2010/main" val="426836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1D211D2-C5B2-4AA2-8A8C-D067AF82627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123B5D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23B5D"/>
                </a:solidFill>
                <a:latin typeface="Segoe UI"/>
                <a:ea typeface="Segoe UI"/>
                <a:cs typeface="Segoe UI"/>
              </a:rPr>
              <a:t>Giới hạn còn lại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7026AB92-A298-4784-B1E7-A60D07A5A8E7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0972800" cy="0"/>
          </a:xfrm>
          <a:prstGeom prst="line">
            <a:avLst/>
          </a:prstGeom>
          <a:noFill/>
          <a:ln w="9525">
            <a:solidFill>
              <a:srgbClr val="C9D8D4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A14820-D4A3-4C19-9EA0-149D97DE4D95}"/>
              </a:ext>
            </a:extLst>
          </p:cNvPr>
          <p:cNvSpPr>
            <a:spLocks noGrp="1"/>
          </p:cNvSpPr>
          <p:nvPr/>
        </p:nvSpPr>
        <p:spPr>
          <a:xfrm>
            <a:off x="10953750" y="457200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r">
              <a:defRPr sz="1350" b="1">
                <a:solidFill>
                  <a:srgbClr val="18A999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8A999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0D498F6-8C5D-4FC2-ACA6-324B36FE7D62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876300" cy="800100"/>
          </a:xfrm>
          <a:prstGeom prst="ellipse">
            <a:avLst/>
          </a:prstGeom>
          <a:solidFill>
            <a:srgbClr val="D97706"/>
          </a:solidFill>
          <a:ln w="14288">
            <a:solidFill>
              <a:srgbClr val="D9770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9D542E-27C8-4AAC-84DB-65BCBDC3EADF}"/>
              </a:ext>
            </a:extLst>
          </p:cNvPr>
          <p:cNvSpPr>
            <a:spLocks noGrp="1"/>
          </p:cNvSpPr>
          <p:nvPr/>
        </p:nvSpPr>
        <p:spPr>
          <a:xfrm>
            <a:off x="1905000" y="1428750"/>
            <a:ext cx="3143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000" lnSpcReduction="10000"/>
          </a:bodyPr>
          <a:lstStyle/>
          <a:p>
            <a:pPr algn="l">
              <a:defRPr sz="1875" b="1">
                <a:solidFill>
                  <a:srgbClr val="123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23B5D"/>
                </a:solidFill>
                <a:latin typeface="Segoe UI"/>
                <a:ea typeface="Segoe UI"/>
                <a:cs typeface="Segoe UI"/>
              </a:rPr>
              <a:t>Kiểm soát nội dung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B68887-C388-4E22-B6E2-295DB0C3A031}"/>
              </a:ext>
            </a:extLst>
          </p:cNvPr>
          <p:cNvSpPr>
            <a:spLocks noGrp="1"/>
          </p:cNvSpPr>
          <p:nvPr/>
        </p:nvSpPr>
        <p:spPr>
          <a:xfrm>
            <a:off x="1905000" y="1809750"/>
            <a:ext cx="92392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Chưa có app controller theo SHA-256, DNS proxy, phân loại miền hoặc SafeSearch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958D2CE3-26BF-4D96-A1B4-5DC2C2266A68}"/>
              </a:ext>
            </a:extLst>
          </p:cNvPr>
          <p:cNvSpPr>
            <a:spLocks noGrp="1"/>
          </p:cNvSpPr>
          <p:nvPr/>
        </p:nvSpPr>
        <p:spPr>
          <a:xfrm>
            <a:off x="1905000" y="2476500"/>
            <a:ext cx="9239250" cy="0"/>
          </a:xfrm>
          <a:prstGeom prst="line">
            <a:avLst/>
          </a:prstGeom>
          <a:noFill/>
          <a:ln w="9525">
            <a:solidFill>
              <a:srgbClr val="C9D8D4"/>
            </a:solidFill>
            <a:prstDash val="solid"/>
          </a:ln>
        </p:spPr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885EDBF-178E-454E-99B5-995011678D77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876300" cy="800100"/>
          </a:xfrm>
          <a:prstGeom prst="ellipse">
            <a:avLst/>
          </a:prstGeom>
          <a:solidFill>
            <a:srgbClr val="D97706"/>
          </a:solidFill>
          <a:ln w="14288">
            <a:solidFill>
              <a:srgbClr val="D9770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9B0F3C-BDDD-404B-BCEF-0D1C4D1A04AE}"/>
              </a:ext>
            </a:extLst>
          </p:cNvPr>
          <p:cNvSpPr>
            <a:spLocks noGrp="1"/>
          </p:cNvSpPr>
          <p:nvPr/>
        </p:nvSpPr>
        <p:spPr>
          <a:xfrm>
            <a:off x="1905000" y="2647950"/>
            <a:ext cx="3143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000" lnSpcReduction="10000"/>
          </a:bodyPr>
          <a:lstStyle/>
          <a:p>
            <a:pPr algn="l">
              <a:defRPr sz="1875" b="1">
                <a:solidFill>
                  <a:srgbClr val="123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23B5D"/>
                </a:solidFill>
                <a:latin typeface="Segoe UI"/>
                <a:ea typeface="Segoe UI"/>
                <a:cs typeface="Segoe UI"/>
              </a:rPr>
              <a:t>Ghi nhận và báo cáo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7A515D-16C5-4599-869A-B245CEF7FC82}"/>
              </a:ext>
            </a:extLst>
          </p:cNvPr>
          <p:cNvSpPr>
            <a:spLocks noGrp="1"/>
          </p:cNvSpPr>
          <p:nvPr/>
        </p:nvSpPr>
        <p:spPr>
          <a:xfrm>
            <a:off x="1905000" y="3028950"/>
            <a:ext cx="92392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Chưa có event app/domain, batch offline, biểu đồ tuần hoặc top ứng dụng/miền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429E5ABD-40AF-41B1-AAED-197B7B593F46}"/>
              </a:ext>
            </a:extLst>
          </p:cNvPr>
          <p:cNvSpPr>
            <a:spLocks noGrp="1"/>
          </p:cNvSpPr>
          <p:nvPr/>
        </p:nvSpPr>
        <p:spPr>
          <a:xfrm>
            <a:off x="1905000" y="3695700"/>
            <a:ext cx="9239250" cy="0"/>
          </a:xfrm>
          <a:prstGeom prst="line">
            <a:avLst/>
          </a:prstGeom>
          <a:noFill/>
          <a:ln w="9525">
            <a:solidFill>
              <a:srgbClr val="C9D8D4"/>
            </a:solidFill>
            <a:prstDash val="solid"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C9DE3AC-091F-4AE9-A6FF-919AD5D6620C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876300" cy="800100"/>
          </a:xfrm>
          <a:prstGeom prst="ellipse">
            <a:avLst/>
          </a:prstGeom>
          <a:solidFill>
            <a:srgbClr val="B42318"/>
          </a:solidFill>
          <a:ln w="14288">
            <a:solidFill>
              <a:srgbClr val="B42318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SEC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E51E88-3043-4600-807E-8682C5A123BC}"/>
              </a:ext>
            </a:extLst>
          </p:cNvPr>
          <p:cNvSpPr>
            <a:spLocks noGrp="1"/>
          </p:cNvSpPr>
          <p:nvPr/>
        </p:nvSpPr>
        <p:spPr>
          <a:xfrm>
            <a:off x="1905000" y="3867150"/>
            <a:ext cx="3143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000" lnSpcReduction="10000"/>
          </a:bodyPr>
          <a:lstStyle/>
          <a:p>
            <a:pPr algn="l">
              <a:defRPr sz="1875" b="1">
                <a:solidFill>
                  <a:srgbClr val="123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23B5D"/>
                </a:solidFill>
                <a:latin typeface="Segoe UI"/>
                <a:ea typeface="Segoe UI"/>
                <a:cs typeface="Segoe UI"/>
              </a:rPr>
              <a:t>Bảo mật production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BE5945-172B-47BC-B8C4-BD1105F3BAF8}"/>
              </a:ext>
            </a:extLst>
          </p:cNvPr>
          <p:cNvSpPr>
            <a:spLocks noGrp="1"/>
          </p:cNvSpPr>
          <p:nvPr/>
        </p:nvSpPr>
        <p:spPr>
          <a:xfrm>
            <a:off x="1905000" y="4248150"/>
            <a:ext cx="92392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Chưa có TLS/pinning, DPAPI/AES-GCM, installer ký số, Alembic hoặc worker bền vững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E0F2D275-1F90-4599-B2EB-5B7C6293D1C3}"/>
              </a:ext>
            </a:extLst>
          </p:cNvPr>
          <p:cNvSpPr>
            <a:spLocks noGrp="1"/>
          </p:cNvSpPr>
          <p:nvPr/>
        </p:nvSpPr>
        <p:spPr>
          <a:xfrm>
            <a:off x="1905000" y="4914900"/>
            <a:ext cx="9239250" cy="0"/>
          </a:xfrm>
          <a:prstGeom prst="line">
            <a:avLst/>
          </a:prstGeom>
          <a:noFill/>
          <a:ln w="9525">
            <a:solidFill>
              <a:srgbClr val="C9D8D4"/>
            </a:solidFill>
            <a:prstDash val="solid"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E6E7046-AC53-4AF4-9538-5DE66B652054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876300" cy="800100"/>
          </a:xfrm>
          <a:prstGeom prst="ellipse">
            <a:avLst/>
          </a:prstGeom>
          <a:solidFill>
            <a:srgbClr val="B42318"/>
          </a:solidFill>
          <a:ln w="14288">
            <a:solidFill>
              <a:srgbClr val="B42318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OPS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525787-8279-4866-96D0-D6799A5FD125}"/>
              </a:ext>
            </a:extLst>
          </p:cNvPr>
          <p:cNvSpPr>
            <a:spLocks noGrp="1"/>
          </p:cNvSpPr>
          <p:nvPr/>
        </p:nvSpPr>
        <p:spPr>
          <a:xfrm>
            <a:off x="1905000" y="5086350"/>
            <a:ext cx="3143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000" lnSpcReduction="10000"/>
          </a:bodyPr>
          <a:lstStyle/>
          <a:p>
            <a:pPr algn="l">
              <a:defRPr sz="1875" b="1">
                <a:solidFill>
                  <a:srgbClr val="123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23B5D"/>
                </a:solidFill>
                <a:latin typeface="Segoe UI"/>
                <a:ea typeface="Segoe UI"/>
                <a:cs typeface="Segoe UI"/>
              </a:rPr>
              <a:t>Chống bypass và vận hành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3BCCF2-EAD2-4BDC-916B-AE468D479440}"/>
              </a:ext>
            </a:extLst>
          </p:cNvPr>
          <p:cNvSpPr>
            <a:spLocks noGrp="1"/>
          </p:cNvSpPr>
          <p:nvPr/>
        </p:nvSpPr>
        <p:spPr>
          <a:xfrm>
            <a:off x="1905000" y="5467350"/>
            <a:ext cx="92392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Chưa hỗ trợ multi-session/RDP; kết thúc phiên Tray đưa F1 về trạng thái chờ hồ sơ</a:t>
            </a:r>
          </a:p>
        </p:txBody>
      </p:sp>
    </p:spTree>
    <p:extLst>
      <p:ext uri="{BB962C8B-B14F-4D97-AF65-F5344CB8AC3E}">
        <p14:creationId xmlns:p14="http://schemas.microsoft.com/office/powerpoint/2010/main" val="1977383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3D2DC0D-EFF8-4954-AF6C-5EC16FE788F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123B5D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23B5D"/>
                </a:solidFill>
                <a:latin typeface="Segoe UI"/>
                <a:ea typeface="Segoe UI"/>
                <a:cs typeface="Segoe UI"/>
              </a:rPr>
              <a:t>Kế hoạch Tuần 3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9BEDE321-9F8B-47AB-A8E9-2F4926F05806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0972800" cy="0"/>
          </a:xfrm>
          <a:prstGeom prst="line">
            <a:avLst/>
          </a:prstGeom>
          <a:noFill/>
          <a:ln w="9525">
            <a:solidFill>
              <a:srgbClr val="C9D8D4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7F5B28-967C-490F-8A2A-642E52455DF9}"/>
              </a:ext>
            </a:extLst>
          </p:cNvPr>
          <p:cNvSpPr>
            <a:spLocks noGrp="1"/>
          </p:cNvSpPr>
          <p:nvPr/>
        </p:nvSpPr>
        <p:spPr>
          <a:xfrm>
            <a:off x="10953750" y="457200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r">
              <a:defRPr sz="1350" b="1">
                <a:solidFill>
                  <a:srgbClr val="18A999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8A999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6AA24D2-A233-4C70-B569-16855398A88C}"/>
              </a:ext>
            </a:extLst>
          </p:cNvPr>
          <p:cNvSpPr>
            <a:spLocks noGrp="1"/>
          </p:cNvSpPr>
          <p:nvPr/>
        </p:nvSpPr>
        <p:spPr>
          <a:xfrm>
            <a:off x="590550" y="1504950"/>
            <a:ext cx="609600" cy="609600"/>
          </a:xfrm>
          <a:prstGeom prst="ellipse">
            <a:avLst/>
          </a:prstGeom>
          <a:solidFill>
            <a:srgbClr val="18A999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ABE33B-1956-487A-836E-5894A1F9A501}"/>
              </a:ext>
            </a:extLst>
          </p:cNvPr>
          <p:cNvSpPr>
            <a:spLocks noGrp="1"/>
          </p:cNvSpPr>
          <p:nvPr/>
        </p:nvSpPr>
        <p:spPr>
          <a:xfrm>
            <a:off x="590550" y="2571750"/>
            <a:ext cx="2381250" cy="74295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Nền event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646ADA-1837-4A11-84C1-81F86D817F15}"/>
              </a:ext>
            </a:extLst>
          </p:cNvPr>
          <p:cNvSpPr>
            <a:spLocks noGrp="1"/>
          </p:cNvSpPr>
          <p:nvPr/>
        </p:nvSpPr>
        <p:spPr>
          <a:xfrm>
            <a:off x="590550" y="3638550"/>
            <a:ext cx="238125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Schema tối thiểu</a:t>
            </a:r>
          </a:p>
          <a:p>
            <a:pPr algn="ctr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Outbox + idempotency</a:t>
            </a:r>
          </a:p>
          <a:p>
            <a:pPr algn="ctr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Retention contract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E5CC0A-70A3-44B1-B0A7-803F1C7D5AED}"/>
              </a:ext>
            </a:extLst>
          </p:cNvPr>
          <p:cNvSpPr>
            <a:spLocks noGrp="1"/>
          </p:cNvSpPr>
          <p:nvPr/>
        </p:nvSpPr>
        <p:spPr>
          <a:xfrm>
            <a:off x="3467100" y="1504950"/>
            <a:ext cx="609600" cy="609600"/>
          </a:xfrm>
          <a:prstGeom prst="ellipse">
            <a:avLst/>
          </a:prstGeom>
          <a:solidFill>
            <a:srgbClr val="18A999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9B06A42-6BDB-44E0-8203-55CD98F6A306}"/>
              </a:ext>
            </a:extLst>
          </p:cNvPr>
          <p:cNvSpPr>
            <a:spLocks noGrp="1"/>
          </p:cNvSpPr>
          <p:nvPr/>
        </p:nvSpPr>
        <p:spPr>
          <a:xfrm>
            <a:off x="3467100" y="2571750"/>
            <a:ext cx="2381250" cy="74295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Kiểm soát ứng dụng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C40C8D-2336-4B2E-AEB9-4155F5744176}"/>
              </a:ext>
            </a:extLst>
          </p:cNvPr>
          <p:cNvSpPr>
            <a:spLocks noGrp="1"/>
          </p:cNvSpPr>
          <p:nvPr/>
        </p:nvSpPr>
        <p:spPr>
          <a:xfrm>
            <a:off x="3467100" y="3638550"/>
            <a:ext cx="238125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Process metadata</a:t>
            </a:r>
          </a:p>
          <a:p>
            <a:pPr algn="ctr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Tên + SHA-256</a:t>
            </a:r>
          </a:p>
          <a:p>
            <a:pPr algn="ctr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Lý do chặn trên Tray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E746D0A-1687-4D3F-BA8A-A500552BF119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609600" cy="609600"/>
          </a:xfrm>
          <a:prstGeom prst="ellipse">
            <a:avLst/>
          </a:prstGeom>
          <a:solidFill>
            <a:srgbClr val="18A999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91B9C9E-8F46-4A23-9A67-55E6777E05A6}"/>
              </a:ext>
            </a:extLst>
          </p:cNvPr>
          <p:cNvSpPr>
            <a:spLocks noGrp="1"/>
          </p:cNvSpPr>
          <p:nvPr/>
        </p:nvSpPr>
        <p:spPr>
          <a:xfrm>
            <a:off x="6343650" y="2571750"/>
            <a:ext cx="2381250" cy="74295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DNS và SafeSearch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B09AC8-37B8-4BBE-933B-8913BAA05C7E}"/>
              </a:ext>
            </a:extLst>
          </p:cNvPr>
          <p:cNvSpPr>
            <a:spLocks noGrp="1"/>
          </p:cNvSpPr>
          <p:nvPr/>
        </p:nvSpPr>
        <p:spPr>
          <a:xfrm>
            <a:off x="6343650" y="3638550"/>
            <a:ext cx="238125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Proxy 127.0.0.1:53</a:t>
            </a:r>
          </a:p>
          <a:p>
            <a:pPr algn="ctr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Domain + subdomain</a:t>
            </a:r>
          </a:p>
          <a:p>
            <a:pPr algn="ctr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Bộ phân loại an toàn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C96307-A8F5-401B-84D1-4F9A64FA74DF}"/>
              </a:ext>
            </a:extLst>
          </p:cNvPr>
          <p:cNvSpPr>
            <a:spLocks noGrp="1"/>
          </p:cNvSpPr>
          <p:nvPr/>
        </p:nvSpPr>
        <p:spPr>
          <a:xfrm>
            <a:off x="9220200" y="1504950"/>
            <a:ext cx="609600" cy="609600"/>
          </a:xfrm>
          <a:prstGeom prst="ellipse">
            <a:avLst/>
          </a:prstGeom>
          <a:solidFill>
            <a:srgbClr val="18A999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C1D9DF6-6140-4ED7-96AA-BE333475C548}"/>
              </a:ext>
            </a:extLst>
          </p:cNvPr>
          <p:cNvSpPr>
            <a:spLocks noGrp="1"/>
          </p:cNvSpPr>
          <p:nvPr/>
        </p:nvSpPr>
        <p:spPr>
          <a:xfrm>
            <a:off x="9220200" y="2571750"/>
            <a:ext cx="2381250" cy="74295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Báo cáo F3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F6A331-B745-4EDC-AC9E-29B647BD0D3B}"/>
              </a:ext>
            </a:extLst>
          </p:cNvPr>
          <p:cNvSpPr>
            <a:spLocks noGrp="1"/>
          </p:cNvSpPr>
          <p:nvPr/>
        </p:nvSpPr>
        <p:spPr>
          <a:xfrm>
            <a:off x="9220200" y="3638550"/>
            <a:ext cx="238125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Batch offline</a:t>
            </a:r>
          </a:p>
          <a:p>
            <a:pPr algn="ctr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Biểu đồ phụ huynh</a:t>
            </a:r>
          </a:p>
          <a:p>
            <a:pPr algn="ctr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Hôm nay em dùng gì</a:t>
            </a:r>
          </a:p>
        </p:txBody>
      </p:sp>
      <p:cxnSp>
        <p:nvCxnSpPr>
          <p:cNvPr id="35" name="Straight Arrow Connector 34"/>
          <p:cNvCxnSpPr>
            <a:stCxn id="5" idx="3"/>
            <a:endCxn id="8" idx="1"/>
          </p:cNvCxnSpPr>
          <p:nvPr/>
        </p:nvCxnSpPr>
        <p:spPr>
          <a:xfrm>
            <a:off x="2971800" y="2943225"/>
            <a:ext cx="495300" cy="0"/>
          </a:xfrm>
          <a:prstGeom prst="straightConnector1">
            <a:avLst/>
          </a:prstGeom>
          <a:ln w="23813">
            <a:solidFill>
              <a:srgbClr val="18A999"/>
            </a:solidFill>
            <a:prstDash val="solid"/>
            <a:tailEnd type="triangle" w="sm" len="sm"/>
          </a:ln>
        </p:spPr>
      </p:cxnSp>
      <p:cxnSp>
        <p:nvCxnSpPr>
          <p:cNvPr id="36" name="Straight Arrow Connector 35"/>
          <p:cNvCxnSpPr>
            <a:stCxn id="8" idx="3"/>
            <a:endCxn id="11" idx="1"/>
          </p:cNvCxnSpPr>
          <p:nvPr/>
        </p:nvCxnSpPr>
        <p:spPr>
          <a:xfrm>
            <a:off x="5848350" y="2943225"/>
            <a:ext cx="495300" cy="0"/>
          </a:xfrm>
          <a:prstGeom prst="straightConnector1">
            <a:avLst/>
          </a:prstGeom>
          <a:ln w="23813">
            <a:solidFill>
              <a:srgbClr val="18A999"/>
            </a:solidFill>
            <a:prstDash val="solid"/>
            <a:tailEnd type="triangle" w="sm" len="sm"/>
          </a:ln>
        </p:spPr>
      </p:cxnSp>
      <p:cxnSp>
        <p:nvCxnSpPr>
          <p:cNvPr id="37" name="Straight Arrow Connector 36"/>
          <p:cNvCxnSpPr>
            <a:stCxn id="11" idx="3"/>
            <a:endCxn id="14" idx="1"/>
          </p:cNvCxnSpPr>
          <p:nvPr/>
        </p:nvCxnSpPr>
        <p:spPr>
          <a:xfrm>
            <a:off x="8724900" y="2943225"/>
            <a:ext cx="495300" cy="0"/>
          </a:xfrm>
          <a:prstGeom prst="straightConnector1">
            <a:avLst/>
          </a:prstGeom>
          <a:ln w="23813">
            <a:solidFill>
              <a:srgbClr val="18A999"/>
            </a:solidFill>
            <a:prstDash val="solid"/>
            <a:tailEnd type="triangle" w="sm" len="sm"/>
          </a:ln>
        </p:spPr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333E9D2-D649-44FA-B044-1E074D95185A}"/>
              </a:ext>
            </a:extLst>
          </p:cNvPr>
          <p:cNvSpPr>
            <a:spLocks noGrp="1"/>
          </p:cNvSpPr>
          <p:nvPr/>
        </p:nvSpPr>
        <p:spPr>
          <a:xfrm>
            <a:off x="1047750" y="5581650"/>
            <a:ext cx="10096500" cy="647700"/>
          </a:xfrm>
          <a:prstGeom prst="roundRect">
            <a:avLst>
              <a:gd name="adj" fmla="val 20588"/>
            </a:avLst>
          </a:prstGeom>
          <a:solidFill>
            <a:srgbClr val="E2F3E8"/>
          </a:solidFill>
          <a:ln w="14288">
            <a:solidFill>
              <a:srgbClr val="2E7D5B"/>
            </a:solidFill>
            <a:prstDash val="solid"/>
          </a:ln>
        </p:spPr>
        <p:txBody>
          <a:bodyPr anchor="ctr">
            <a:normAutofit fontScale="95074" lnSpcReduction="10000"/>
          </a:bodyPr>
          <a:lstStyle/>
          <a:p>
            <a:pPr algn="ctr">
              <a:defRPr sz="1650" b="1">
                <a:solidFill>
                  <a:srgbClr val="123B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3B5D"/>
                </a:solidFill>
                <a:latin typeface="Segoe UI"/>
                <a:ea typeface="Segoe UI"/>
                <a:cs typeface="Segoe UI"/>
              </a:rPr>
              <a:t>Definition of done: event offline gửi đúng một lần, app/DNS có test an toàn, dashboard và child view dùng cùng dữ liệu.</a:t>
            </a:r>
          </a:p>
        </p:txBody>
      </p:sp>
    </p:spTree>
    <p:extLst>
      <p:ext uri="{BB962C8B-B14F-4D97-AF65-F5344CB8AC3E}">
        <p14:creationId xmlns:p14="http://schemas.microsoft.com/office/powerpoint/2010/main" val="141268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3700FE-4925-732E-BBAD-18AFF56B0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952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9A4E9D-917E-4CFD-5918-E398D9548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835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9FEEA60-37DC-6F87-B600-03A504C2A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328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8BC7D0-6DAA-7C7A-FDB3-2BD21D23B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D85B53C-7B10-F6B2-86B5-630CC47D0B4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123B5D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23B5D"/>
                </a:solidFill>
                <a:latin typeface="Segoe UI"/>
                <a:ea typeface="Segoe UI"/>
                <a:cs typeface="Segoe UI"/>
              </a:rPr>
              <a:t>Kế hoạch Tuần 3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38CA2938-50AB-5324-B2C1-4413441A89A7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0972800" cy="0"/>
          </a:xfrm>
          <a:prstGeom prst="line">
            <a:avLst/>
          </a:prstGeom>
          <a:noFill/>
          <a:ln w="9525">
            <a:solidFill>
              <a:srgbClr val="C9D8D4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CC8A23-EF26-6C14-2DFA-2993457CB3C9}"/>
              </a:ext>
            </a:extLst>
          </p:cNvPr>
          <p:cNvSpPr>
            <a:spLocks noGrp="1"/>
          </p:cNvSpPr>
          <p:nvPr/>
        </p:nvSpPr>
        <p:spPr>
          <a:xfrm>
            <a:off x="10953750" y="457200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r">
              <a:defRPr sz="1350" b="1">
                <a:solidFill>
                  <a:srgbClr val="18A999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8A999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D4C6CED-9A33-D81E-77D5-8D4BB0432EA0}"/>
              </a:ext>
            </a:extLst>
          </p:cNvPr>
          <p:cNvSpPr>
            <a:spLocks noGrp="1"/>
          </p:cNvSpPr>
          <p:nvPr/>
        </p:nvSpPr>
        <p:spPr>
          <a:xfrm>
            <a:off x="590550" y="1504950"/>
            <a:ext cx="609600" cy="609600"/>
          </a:xfrm>
          <a:prstGeom prst="ellipse">
            <a:avLst/>
          </a:prstGeom>
          <a:solidFill>
            <a:srgbClr val="18A999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58FED3B-A487-66A2-C90A-4B7F8C101937}"/>
              </a:ext>
            </a:extLst>
          </p:cNvPr>
          <p:cNvSpPr>
            <a:spLocks noGrp="1"/>
          </p:cNvSpPr>
          <p:nvPr/>
        </p:nvSpPr>
        <p:spPr>
          <a:xfrm>
            <a:off x="590550" y="2571750"/>
            <a:ext cx="2381250" cy="74295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Nền event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01EE56-910F-BD38-9E5B-3FF7498EC9C2}"/>
              </a:ext>
            </a:extLst>
          </p:cNvPr>
          <p:cNvSpPr>
            <a:spLocks noGrp="1"/>
          </p:cNvSpPr>
          <p:nvPr/>
        </p:nvSpPr>
        <p:spPr>
          <a:xfrm>
            <a:off x="590550" y="3638550"/>
            <a:ext cx="238125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Schema tối thiểu</a:t>
            </a:r>
          </a:p>
          <a:p>
            <a:pPr algn="ctr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Outbox + idempotency</a:t>
            </a:r>
          </a:p>
          <a:p>
            <a:pPr algn="ctr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Retention contract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62FA540-D934-74B7-FD4A-1EAAB237B599}"/>
              </a:ext>
            </a:extLst>
          </p:cNvPr>
          <p:cNvSpPr>
            <a:spLocks noGrp="1"/>
          </p:cNvSpPr>
          <p:nvPr/>
        </p:nvSpPr>
        <p:spPr>
          <a:xfrm>
            <a:off x="3467100" y="1504950"/>
            <a:ext cx="609600" cy="609600"/>
          </a:xfrm>
          <a:prstGeom prst="ellipse">
            <a:avLst/>
          </a:prstGeom>
          <a:solidFill>
            <a:srgbClr val="18A999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D36BF32-30FC-B13E-9B1B-67B40CB6D072}"/>
              </a:ext>
            </a:extLst>
          </p:cNvPr>
          <p:cNvSpPr>
            <a:spLocks noGrp="1"/>
          </p:cNvSpPr>
          <p:nvPr/>
        </p:nvSpPr>
        <p:spPr>
          <a:xfrm>
            <a:off x="3467100" y="2571750"/>
            <a:ext cx="2381250" cy="74295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Kiểm soát ứng dụng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CF00C1-DB14-F586-B11A-D0FBC81FDCDF}"/>
              </a:ext>
            </a:extLst>
          </p:cNvPr>
          <p:cNvSpPr>
            <a:spLocks noGrp="1"/>
          </p:cNvSpPr>
          <p:nvPr/>
        </p:nvSpPr>
        <p:spPr>
          <a:xfrm>
            <a:off x="3467100" y="3638550"/>
            <a:ext cx="238125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Process metadata</a:t>
            </a:r>
          </a:p>
          <a:p>
            <a:pPr algn="ctr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Tên + SHA-256</a:t>
            </a:r>
          </a:p>
          <a:p>
            <a:pPr algn="ctr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Lý do chặn trên Tray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DF81115-A68D-FEF8-9DF6-D59AB6A8D83B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609600" cy="609600"/>
          </a:xfrm>
          <a:prstGeom prst="ellipse">
            <a:avLst/>
          </a:prstGeom>
          <a:solidFill>
            <a:srgbClr val="18A999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3073391-8DD3-AFA2-ED36-CB53626A947D}"/>
              </a:ext>
            </a:extLst>
          </p:cNvPr>
          <p:cNvSpPr>
            <a:spLocks noGrp="1"/>
          </p:cNvSpPr>
          <p:nvPr/>
        </p:nvSpPr>
        <p:spPr>
          <a:xfrm>
            <a:off x="6343650" y="2571750"/>
            <a:ext cx="2381250" cy="74295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DNS và SafeSearch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044728-CFD4-A500-8669-275BEA2F045A}"/>
              </a:ext>
            </a:extLst>
          </p:cNvPr>
          <p:cNvSpPr>
            <a:spLocks noGrp="1"/>
          </p:cNvSpPr>
          <p:nvPr/>
        </p:nvSpPr>
        <p:spPr>
          <a:xfrm>
            <a:off x="6343650" y="3638550"/>
            <a:ext cx="238125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Proxy 127.0.0.1:53</a:t>
            </a:r>
          </a:p>
          <a:p>
            <a:pPr algn="ctr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Domain + subdomain</a:t>
            </a:r>
          </a:p>
          <a:p>
            <a:pPr algn="ctr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Bộ phân loại an toàn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FC8142B-83EA-18F5-B72E-01D5C850EB18}"/>
              </a:ext>
            </a:extLst>
          </p:cNvPr>
          <p:cNvSpPr>
            <a:spLocks noGrp="1"/>
          </p:cNvSpPr>
          <p:nvPr/>
        </p:nvSpPr>
        <p:spPr>
          <a:xfrm>
            <a:off x="9220200" y="1504950"/>
            <a:ext cx="609600" cy="609600"/>
          </a:xfrm>
          <a:prstGeom prst="ellipse">
            <a:avLst/>
          </a:prstGeom>
          <a:solidFill>
            <a:srgbClr val="18A999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2DB8CF4-C65C-3BEC-9E68-EC0C7A61A732}"/>
              </a:ext>
            </a:extLst>
          </p:cNvPr>
          <p:cNvSpPr>
            <a:spLocks noGrp="1"/>
          </p:cNvSpPr>
          <p:nvPr/>
        </p:nvSpPr>
        <p:spPr>
          <a:xfrm>
            <a:off x="9220200" y="2571750"/>
            <a:ext cx="2381250" cy="74295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4288">
            <a:solidFill>
              <a:srgbClr val="18A999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Báo cáo F3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F12B5E-298A-2003-D5B1-103F14531A8D}"/>
              </a:ext>
            </a:extLst>
          </p:cNvPr>
          <p:cNvSpPr>
            <a:spLocks noGrp="1"/>
          </p:cNvSpPr>
          <p:nvPr/>
        </p:nvSpPr>
        <p:spPr>
          <a:xfrm>
            <a:off x="9220200" y="3638550"/>
            <a:ext cx="238125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Batch offline</a:t>
            </a:r>
          </a:p>
          <a:p>
            <a:pPr algn="ctr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Biểu đồ phụ huynh</a:t>
            </a:r>
          </a:p>
          <a:p>
            <a:pPr algn="ctr">
              <a:defRPr sz="1575" b="0">
                <a:solidFill>
                  <a:srgbClr val="5D718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D7183"/>
                </a:solidFill>
                <a:latin typeface="Segoe UI"/>
                <a:ea typeface="Segoe UI"/>
                <a:cs typeface="Segoe UI"/>
              </a:rPr>
              <a:t>Hôm nay em dùng gì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3055669-CBBD-D723-8AFF-8691232C0B93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2971800" y="2943225"/>
            <a:ext cx="495300" cy="0"/>
          </a:xfrm>
          <a:prstGeom prst="straightConnector1">
            <a:avLst/>
          </a:prstGeom>
          <a:ln w="23813">
            <a:solidFill>
              <a:srgbClr val="18A999"/>
            </a:solidFill>
            <a:prstDash val="solid"/>
            <a:tailEnd type="triangle" w="sm" len="sm"/>
          </a:ln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B3923E1-89A7-DCDB-7F13-06F073FF6F0B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5848350" y="2943225"/>
            <a:ext cx="495300" cy="0"/>
          </a:xfrm>
          <a:prstGeom prst="straightConnector1">
            <a:avLst/>
          </a:prstGeom>
          <a:ln w="23813">
            <a:solidFill>
              <a:srgbClr val="18A999"/>
            </a:solidFill>
            <a:prstDash val="solid"/>
            <a:tailEnd type="triangle" w="sm" len="sm"/>
          </a:ln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A5F1675-4C68-A147-F6FA-765BFC0F38BA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>
            <a:off x="8724900" y="2943225"/>
            <a:ext cx="495300" cy="0"/>
          </a:xfrm>
          <a:prstGeom prst="straightConnector1">
            <a:avLst/>
          </a:prstGeom>
          <a:ln w="23813">
            <a:solidFill>
              <a:srgbClr val="18A999"/>
            </a:solidFill>
            <a:prstDash val="solid"/>
            <a:tailEnd type="triangle" w="sm" len="sm"/>
          </a:ln>
        </p:spPr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7D92FB6-B79A-7E45-871B-B541A5AD1350}"/>
              </a:ext>
            </a:extLst>
          </p:cNvPr>
          <p:cNvSpPr>
            <a:spLocks noGrp="1"/>
          </p:cNvSpPr>
          <p:nvPr/>
        </p:nvSpPr>
        <p:spPr>
          <a:xfrm>
            <a:off x="1047750" y="5581650"/>
            <a:ext cx="10096500" cy="647700"/>
          </a:xfrm>
          <a:prstGeom prst="roundRect">
            <a:avLst>
              <a:gd name="adj" fmla="val 20588"/>
            </a:avLst>
          </a:prstGeom>
          <a:solidFill>
            <a:srgbClr val="E2F3E8"/>
          </a:solidFill>
          <a:ln w="14288">
            <a:solidFill>
              <a:srgbClr val="2E7D5B"/>
            </a:solidFill>
            <a:prstDash val="solid"/>
          </a:ln>
        </p:spPr>
        <p:txBody>
          <a:bodyPr anchor="ctr">
            <a:normAutofit fontScale="95074" lnSpcReduction="10000"/>
          </a:bodyPr>
          <a:lstStyle/>
          <a:p>
            <a:pPr algn="ctr">
              <a:defRPr sz="1650" b="1">
                <a:solidFill>
                  <a:srgbClr val="123B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3B5D"/>
                </a:solidFill>
                <a:latin typeface="Segoe UI"/>
                <a:ea typeface="Segoe UI"/>
                <a:cs typeface="Segoe UI"/>
              </a:rPr>
              <a:t>Definition of done: event offline gửi đúng một lần, app/DNS có test an toàn, dashboard và child view dùng cùng dữ liệu.</a:t>
            </a:r>
          </a:p>
        </p:txBody>
      </p:sp>
    </p:spTree>
    <p:extLst>
      <p:ext uri="{BB962C8B-B14F-4D97-AF65-F5344CB8AC3E}">
        <p14:creationId xmlns:p14="http://schemas.microsoft.com/office/powerpoint/2010/main" val="3832437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E64CB12-061C-4E30-A7F9-33DBCD8E68B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123B5D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23B5D"/>
                </a:solidFill>
                <a:latin typeface="Segoe UI"/>
                <a:ea typeface="Segoe UI"/>
                <a:cs typeface="Segoe UI"/>
              </a:rPr>
              <a:t>Runbook bàn giao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2BB7B907-0E86-403A-B10C-53B269CA7F3A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0972800" cy="0"/>
          </a:xfrm>
          <a:prstGeom prst="line">
            <a:avLst/>
          </a:prstGeom>
          <a:noFill/>
          <a:ln w="9525">
            <a:solidFill>
              <a:srgbClr val="C9D8D4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0A5D3C-41DF-4C3D-B2ED-D3176AEB54F9}"/>
              </a:ext>
            </a:extLst>
          </p:cNvPr>
          <p:cNvSpPr>
            <a:spLocks noGrp="1"/>
          </p:cNvSpPr>
          <p:nvPr/>
        </p:nvSpPr>
        <p:spPr>
          <a:xfrm>
            <a:off x="10953750" y="457200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r">
              <a:defRPr sz="1350" b="1">
                <a:solidFill>
                  <a:srgbClr val="18A999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8A999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C57D54-6D98-4CA5-A99C-B4BB7DD5667F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1714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654" lnSpcReduction="10000"/>
          </a:bodyPr>
          <a:lstStyle/>
          <a:p>
            <a:pPr algn="l">
              <a:defRPr sz="2025" b="1">
                <a:solidFill>
                  <a:srgbClr val="0F766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Chạy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48964A-C560-4DBE-A180-CC1AB8FF0E25}"/>
              </a:ext>
            </a:extLst>
          </p:cNvPr>
          <p:cNvSpPr>
            <a:spLocks noGrp="1"/>
          </p:cNvSpPr>
          <p:nvPr/>
        </p:nvSpPr>
        <p:spPr>
          <a:xfrm>
            <a:off x="723900" y="1952625"/>
            <a:ext cx="10477500" cy="1238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556"/>
          </a:bodyPr>
          <a:lstStyle/>
          <a:p>
            <a:pPr algn="l">
              <a:defRPr sz="15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Server</a:t>
            </a:r>
          </a:p>
          <a:p>
            <a:pPr algn="l">
              <a:defRPr sz="15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python -m uvicorn server.app.main:create_app --factory --host 127.0.0.1 --port 8000</a:t>
            </a:r>
          </a:p>
          <a:p>
            <a:endParaRPr sz="1575" b="0">
              <a:solidFill>
                <a:srgbClr val="17324D"/>
              </a:solidFill>
              <a:latin typeface="Segoe UI"/>
              <a:ea typeface="Segoe UI"/>
              <a:cs typeface="Segoe UI"/>
            </a:endParaRPr>
          </a:p>
          <a:p>
            <a:pPr algn="l">
              <a:defRPr sz="15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Client</a:t>
            </a:r>
          </a:p>
          <a:p>
            <a:pPr algn="l">
              <a:defRPr sz="15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&amp; .\scripts\Setup-OGKAgent.ps1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D9A92BB5-BD6E-429B-9DAC-92F8A4757826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10668000" cy="0"/>
          </a:xfrm>
          <a:prstGeom prst="line">
            <a:avLst/>
          </a:prstGeom>
          <a:noFill/>
          <a:ln w="9525">
            <a:solidFill>
              <a:srgbClr val="C9D8D4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7113C4-5766-432D-9EA0-AF95A808F1DE}"/>
              </a:ext>
            </a:extLst>
          </p:cNvPr>
          <p:cNvSpPr>
            <a:spLocks noGrp="1"/>
          </p:cNvSpPr>
          <p:nvPr/>
        </p:nvSpPr>
        <p:spPr>
          <a:xfrm>
            <a:off x="723900" y="3571875"/>
            <a:ext cx="1714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654" lnSpcReduction="10000"/>
          </a:bodyPr>
          <a:lstStyle/>
          <a:p>
            <a:pPr algn="l">
              <a:defRPr sz="2025" b="1">
                <a:solidFill>
                  <a:srgbClr val="0F766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Verify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478FC6-9A4B-45EF-B231-AC0E2D535AEE}"/>
              </a:ext>
            </a:extLst>
          </p:cNvPr>
          <p:cNvSpPr>
            <a:spLocks noGrp="1"/>
          </p:cNvSpPr>
          <p:nvPr/>
        </p:nvSpPr>
        <p:spPr>
          <a:xfrm>
            <a:off x="723900" y="4048125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pytest -q, Ruff check, service Running, named pipe pong, /api/health = ok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08938D01-B65C-4025-BC89-FBC2E1931BDA}"/>
              </a:ext>
            </a:extLst>
          </p:cNvPr>
          <p:cNvSpPr>
            <a:spLocks noGrp="1"/>
          </p:cNvSpPr>
          <p:nvPr/>
        </p:nvSpPr>
        <p:spPr>
          <a:xfrm>
            <a:off x="723900" y="4667250"/>
            <a:ext cx="10668000" cy="0"/>
          </a:xfrm>
          <a:prstGeom prst="line">
            <a:avLst/>
          </a:prstGeom>
          <a:noFill/>
          <a:ln w="9525">
            <a:solidFill>
              <a:srgbClr val="C9D8D4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349540-1801-40FC-B07E-CF9BE207F274}"/>
              </a:ext>
            </a:extLst>
          </p:cNvPr>
          <p:cNvSpPr>
            <a:spLocks noGrp="1"/>
          </p:cNvSpPr>
          <p:nvPr/>
        </p:nvSpPr>
        <p:spPr>
          <a:xfrm>
            <a:off x="723900" y="49339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654" lnSpcReduction="10000"/>
          </a:bodyPr>
          <a:lstStyle/>
          <a:p>
            <a:pPr algn="l">
              <a:defRPr sz="2025" b="1">
                <a:solidFill>
                  <a:srgbClr val="0F766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Cleanup giữ package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69C172-9A64-4BAB-A1EF-95F53407E763}"/>
              </a:ext>
            </a:extLst>
          </p:cNvPr>
          <p:cNvSpPr>
            <a:spLocks noGrp="1"/>
          </p:cNvSpPr>
          <p:nvPr/>
        </p:nvSpPr>
        <p:spPr>
          <a:xfrm>
            <a:off x="723900" y="5410200"/>
            <a:ext cx="104775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Client: Cleanup-OGKTestService.ps1 -RemoveAgentData</a:t>
            </a:r>
          </a:p>
          <a:p>
            <a:pPr algn="l">
              <a:defRPr sz="16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Server: dừng Uvicorn, xóa data/server.db, seed lại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65EE4F-BD53-49A9-AB2B-204CD46CFC91}"/>
              </a:ext>
            </a:extLst>
          </p:cNvPr>
          <p:cNvSpPr>
            <a:spLocks noGrp="1"/>
          </p:cNvSpPr>
          <p:nvPr/>
        </p:nvSpPr>
        <p:spPr>
          <a:xfrm>
            <a:off x="8096250" y="6257925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r">
              <a:defRPr sz="1350" b="1">
                <a:solidFill>
                  <a:srgbClr val="0F766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Chi tiết: docs/WEEK3_HANDOFF.md</a:t>
            </a:r>
          </a:p>
        </p:txBody>
      </p:sp>
    </p:spTree>
    <p:extLst>
      <p:ext uri="{BB962C8B-B14F-4D97-AF65-F5344CB8AC3E}">
        <p14:creationId xmlns:p14="http://schemas.microsoft.com/office/powerpoint/2010/main" val="7269987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1444</Words>
  <Application>Microsoft Office PowerPoint</Application>
  <DocSecurity>0</DocSecurity>
  <PresentationFormat>Widescreen</PresentationFormat>
  <Paragraphs>226</Paragraphs>
  <Slides>15</Slides>
  <Notes>12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Segoe UI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Thành Lê</cp:lastModifiedBy>
  <cp:revision>4</cp:revision>
  <dcterms:created xsi:type="dcterms:W3CDTF">2026-10-04T12:01:48Z</dcterms:created>
  <dcterms:modified xsi:type="dcterms:W3CDTF">2026-10-06T03:31:53Z</dcterms:modified>
</cp:coreProperties>
</file>